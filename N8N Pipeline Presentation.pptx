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y="6858000" cx="12192000"/>
  <p:notesSz cx="6858000" cy="9144000"/>
  <p:embeddedFontLst>
    <p:embeddedFont>
      <p:font typeface="Inter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2D7D9A6-A9E2-4E7A-AB1E-1F4FD4BE9E6A}">
  <a:tblStyle styleId="{62D7D9A6-A9E2-4E7A-AB1E-1F4FD4BE9E6A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font" Target="fonts/Inter-bold.fntdata"/><Relationship Id="rId27" Type="http://schemas.openxmlformats.org/officeDocument/2006/relationships/font" Target="fonts/Inter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Inter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0" Type="http://schemas.openxmlformats.org/officeDocument/2006/relationships/font" Target="fonts/Inter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Relationship Id="rId4" Type="http://schemas.openxmlformats.org/officeDocument/2006/relationships/image" Target="../media/image16.png"/><Relationship Id="rId5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7.png"/><Relationship Id="rId4" Type="http://schemas.openxmlformats.org/officeDocument/2006/relationships/image" Target="../media/image11.png"/><Relationship Id="rId5" Type="http://schemas.openxmlformats.org/officeDocument/2006/relationships/image" Target="../media/image9.png"/><Relationship Id="rId6" Type="http://schemas.openxmlformats.org/officeDocument/2006/relationships/image" Target="../media/image3.png"/><Relationship Id="rId7" Type="http://schemas.openxmlformats.org/officeDocument/2006/relationships/image" Target="../media/image2.png"/><Relationship Id="rId8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7.png"/><Relationship Id="rId4" Type="http://schemas.openxmlformats.org/officeDocument/2006/relationships/image" Target="../media/image1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7.png"/><Relationship Id="rId4" Type="http://schemas.openxmlformats.org/officeDocument/2006/relationships/image" Target="../media/image28.png"/><Relationship Id="rId11" Type="http://schemas.openxmlformats.org/officeDocument/2006/relationships/image" Target="../media/image12.png"/><Relationship Id="rId10" Type="http://schemas.openxmlformats.org/officeDocument/2006/relationships/image" Target="../media/image29.png"/><Relationship Id="rId12" Type="http://schemas.openxmlformats.org/officeDocument/2006/relationships/image" Target="../media/image18.png"/><Relationship Id="rId9" Type="http://schemas.openxmlformats.org/officeDocument/2006/relationships/image" Target="../media/image15.png"/><Relationship Id="rId5" Type="http://schemas.openxmlformats.org/officeDocument/2006/relationships/image" Target="../media/image10.png"/><Relationship Id="rId6" Type="http://schemas.openxmlformats.org/officeDocument/2006/relationships/image" Target="../media/image8.png"/><Relationship Id="rId7" Type="http://schemas.openxmlformats.org/officeDocument/2006/relationships/image" Target="../media/image4.png"/><Relationship Id="rId8" Type="http://schemas.openxmlformats.org/officeDocument/2006/relationships/image" Target="../media/image2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7.png"/><Relationship Id="rId4" Type="http://schemas.openxmlformats.org/officeDocument/2006/relationships/image" Target="../media/image26.png"/><Relationship Id="rId5" Type="http://schemas.openxmlformats.org/officeDocument/2006/relationships/image" Target="../media/image2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7.png"/><Relationship Id="rId4" Type="http://schemas.openxmlformats.org/officeDocument/2006/relationships/image" Target="../media/image30.png"/><Relationship Id="rId5" Type="http://schemas.openxmlformats.org/officeDocument/2006/relationships/image" Target="../media/image22.png"/><Relationship Id="rId6" Type="http://schemas.openxmlformats.org/officeDocument/2006/relationships/image" Target="../media/image21.png"/><Relationship Id="rId7" Type="http://schemas.openxmlformats.org/officeDocument/2006/relationships/image" Target="../media/image37.png"/><Relationship Id="rId8" Type="http://schemas.openxmlformats.org/officeDocument/2006/relationships/image" Target="../media/image4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7.png"/><Relationship Id="rId4" Type="http://schemas.openxmlformats.org/officeDocument/2006/relationships/image" Target="../media/image23.png"/><Relationship Id="rId5" Type="http://schemas.openxmlformats.org/officeDocument/2006/relationships/image" Target="../media/image20.png"/><Relationship Id="rId6" Type="http://schemas.openxmlformats.org/officeDocument/2006/relationships/image" Target="../media/image44.png"/><Relationship Id="rId7" Type="http://schemas.openxmlformats.org/officeDocument/2006/relationships/image" Target="../media/image2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7.png"/><Relationship Id="rId4" Type="http://schemas.openxmlformats.org/officeDocument/2006/relationships/image" Target="../media/image3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7.png"/><Relationship Id="rId4" Type="http://schemas.openxmlformats.org/officeDocument/2006/relationships/image" Target="../media/image32.png"/><Relationship Id="rId5" Type="http://schemas.openxmlformats.org/officeDocument/2006/relationships/image" Target="../media/image39.png"/><Relationship Id="rId6" Type="http://schemas.openxmlformats.org/officeDocument/2006/relationships/image" Target="../media/image3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7.png"/><Relationship Id="rId4" Type="http://schemas.openxmlformats.org/officeDocument/2006/relationships/image" Target="../media/image34.png"/><Relationship Id="rId5" Type="http://schemas.openxmlformats.org/officeDocument/2006/relationships/image" Target="../media/image38.png"/><Relationship Id="rId6" Type="http://schemas.openxmlformats.org/officeDocument/2006/relationships/image" Target="../media/image4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7.png"/><Relationship Id="rId4" Type="http://schemas.openxmlformats.org/officeDocument/2006/relationships/image" Target="../media/image32.png"/><Relationship Id="rId5" Type="http://schemas.openxmlformats.org/officeDocument/2006/relationships/image" Target="../media/image4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7.png"/><Relationship Id="rId4" Type="http://schemas.openxmlformats.org/officeDocument/2006/relationships/image" Target="../media/image41.png"/><Relationship Id="rId5" Type="http://schemas.openxmlformats.org/officeDocument/2006/relationships/image" Target="../media/image4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7.png"/><Relationship Id="rId4" Type="http://schemas.openxmlformats.org/officeDocument/2006/relationships/image" Target="../media/image32.png"/><Relationship Id="rId5" Type="http://schemas.openxmlformats.org/officeDocument/2006/relationships/image" Target="../media/image6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7.png"/><Relationship Id="rId4" Type="http://schemas.openxmlformats.org/officeDocument/2006/relationships/image" Target="../media/image34.png"/><Relationship Id="rId5" Type="http://schemas.openxmlformats.org/officeDocument/2006/relationships/image" Target="../media/image5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7.png"/><Relationship Id="rId4" Type="http://schemas.openxmlformats.org/officeDocument/2006/relationships/image" Target="../media/image32.png"/><Relationship Id="rId5" Type="http://schemas.openxmlformats.org/officeDocument/2006/relationships/image" Target="../media/image6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7.png"/><Relationship Id="rId4" Type="http://schemas.openxmlformats.org/officeDocument/2006/relationships/image" Target="../media/image58.png"/><Relationship Id="rId5" Type="http://schemas.openxmlformats.org/officeDocument/2006/relationships/image" Target="../media/image5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6.png"/><Relationship Id="rId4" Type="http://schemas.openxmlformats.org/officeDocument/2006/relationships/image" Target="../media/image45.png"/><Relationship Id="rId5" Type="http://schemas.openxmlformats.org/officeDocument/2006/relationships/image" Target="../media/image4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7.png"/><Relationship Id="rId4" Type="http://schemas.openxmlformats.org/officeDocument/2006/relationships/image" Target="../media/image57.png"/><Relationship Id="rId10" Type="http://schemas.openxmlformats.org/officeDocument/2006/relationships/image" Target="../media/image63.png"/><Relationship Id="rId9" Type="http://schemas.openxmlformats.org/officeDocument/2006/relationships/image" Target="../media/image52.png"/><Relationship Id="rId5" Type="http://schemas.openxmlformats.org/officeDocument/2006/relationships/image" Target="../media/image48.png"/><Relationship Id="rId6" Type="http://schemas.openxmlformats.org/officeDocument/2006/relationships/image" Target="../media/image53.png"/><Relationship Id="rId7" Type="http://schemas.openxmlformats.org/officeDocument/2006/relationships/image" Target="../media/image4.png"/><Relationship Id="rId8" Type="http://schemas.openxmlformats.org/officeDocument/2006/relationships/image" Target="../media/image5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1.png"/><Relationship Id="rId4" Type="http://schemas.openxmlformats.org/officeDocument/2006/relationships/image" Target="../media/image59.png"/><Relationship Id="rId9" Type="http://schemas.openxmlformats.org/officeDocument/2006/relationships/image" Target="../media/image66.png"/><Relationship Id="rId5" Type="http://schemas.openxmlformats.org/officeDocument/2006/relationships/image" Target="../media/image55.png"/><Relationship Id="rId6" Type="http://schemas.openxmlformats.org/officeDocument/2006/relationships/image" Target="../media/image65.png"/><Relationship Id="rId7" Type="http://schemas.openxmlformats.org/officeDocument/2006/relationships/image" Target="../media/image62.png"/><Relationship Id="rId8" Type="http://schemas.openxmlformats.org/officeDocument/2006/relationships/image" Target="../media/image6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2500" y="1283196"/>
            <a:ext cx="2495550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6" name="Google Shape;86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52500" y="4527053"/>
            <a:ext cx="10668000" cy="104775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952500" y="1730871"/>
            <a:ext cx="6500812" cy="1173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Full-Cycle Automation: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42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Drug-to-Reimbursement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952500" y="3094732"/>
            <a:ext cx="76200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Linking Drug Inventory, Patient Records, and Insurance Billing through an advanced N8N Workflow Pipeline.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952500" y="4822328"/>
            <a:ext cx="6435804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GOAL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952500" y="5127128"/>
            <a:ext cx="6129337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100% Reimbursement for High-Cost Injectables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7462837" y="4822328"/>
            <a:ext cx="436554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SYSTEM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7462837" y="5127128"/>
            <a:ext cx="4157662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N8N Orchestration Engine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7" name="Google Shape;9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8" name="Google Shape;98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343025"/>
            <a:ext cx="5381625" cy="50387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9" name="Google Shape;99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38875" y="1343025"/>
            <a:ext cx="5381625" cy="5038725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4"/>
          <p:cNvSpPr txBox="1"/>
          <p:nvPr/>
        </p:nvSpPr>
        <p:spPr>
          <a:xfrm>
            <a:off x="571500" y="476250"/>
            <a:ext cx="116014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Executive Summary</a:t>
            </a:r>
            <a:endParaRPr/>
          </a:p>
        </p:txBody>
      </p:sp>
      <p:sp>
        <p:nvSpPr>
          <p:cNvPr id="101" name="Google Shape;101;p14"/>
          <p:cNvSpPr/>
          <p:nvPr/>
        </p:nvSpPr>
        <p:spPr>
          <a:xfrm>
            <a:off x="571500" y="10382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4"/>
          <p:cNvSpPr txBox="1"/>
          <p:nvPr/>
        </p:nvSpPr>
        <p:spPr>
          <a:xfrm>
            <a:off x="866775" y="1638300"/>
            <a:ext cx="5030628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The Challenge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866775" y="2028825"/>
            <a:ext cx="4791075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In ophthalmology, high-cost injectable drugs represent significant financial risk. A recurring failure to scan/record vial usage creates a broken link between: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6572250" y="1638300"/>
            <a:ext cx="4990623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The Impact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6572250" y="2028825"/>
            <a:ext cx="47529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This omission leads directly to unreimbursed costs.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6572250" y="2445990"/>
            <a:ext cx="475297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The practice is forced to absorb expenses that can be hundreds or thousands of dollars per single vial.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6572250" y="3185070"/>
            <a:ext cx="47529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Solution: Eliminate the "Human Action" dependency.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1095375" y="3042195"/>
            <a:ext cx="45624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Supplier Invoice (Cost)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1371600" y="3411735"/>
            <a:ext cx="42862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Broken Link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1095375" y="3781276"/>
            <a:ext cx="45624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Insurance Claim (Revenue)</a:t>
            </a:r>
            <a:endParaRPr/>
          </a:p>
        </p:txBody>
      </p:sp>
      <p:pic>
        <p:nvPicPr>
          <p:cNvPr descr="image.png" id="111" name="Google Shape;111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66775" y="3093541"/>
            <a:ext cx="1333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2" name="Google Shape;112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57275" y="3463081"/>
            <a:ext cx="219075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3" name="Google Shape;113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66775" y="3832621"/>
            <a:ext cx="133350" cy="171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8" name="Google Shape;11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9" name="Google Shape;119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778472"/>
            <a:ext cx="5286375" cy="1285726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571500" y="476250"/>
            <a:ext cx="116014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Problem Statement &amp; Strategic Goals</a:t>
            </a:r>
            <a:endParaRPr/>
          </a:p>
        </p:txBody>
      </p:sp>
      <p:sp>
        <p:nvSpPr>
          <p:cNvPr id="121" name="Google Shape;121;p15"/>
          <p:cNvSpPr/>
          <p:nvPr/>
        </p:nvSpPr>
        <p:spPr>
          <a:xfrm>
            <a:off x="571500" y="10382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5"/>
          <p:cNvSpPr txBox="1"/>
          <p:nvPr/>
        </p:nvSpPr>
        <p:spPr>
          <a:xfrm>
            <a:off x="571500" y="2838450"/>
            <a:ext cx="5550693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EF4444"/>
                </a:solidFill>
                <a:latin typeface="Inter"/>
                <a:ea typeface="Inter"/>
                <a:cs typeface="Inter"/>
                <a:sym typeface="Inter"/>
              </a:rPr>
              <a:t>The Problem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571500" y="3228975"/>
            <a:ext cx="528637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We are losing revenue due to a manual documentation gap at the point of drug administration.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571500" y="3920430"/>
            <a:ext cx="5286375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The lack of an integrated, mandatory checkpoint allows vials to be dispensed without a corresponding digital billing record, resulting in non-payment from insurance carriers.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6334125" y="2387947"/>
            <a:ext cx="5550693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0B981"/>
                </a:solidFill>
                <a:latin typeface="Inter"/>
                <a:ea typeface="Inter"/>
                <a:cs typeface="Inter"/>
                <a:sym typeface="Inter"/>
              </a:rPr>
              <a:t>Primary Goal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6334125" y="4254698"/>
            <a:ext cx="5550693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Secondary Goal</a:t>
            </a:r>
            <a:endParaRPr/>
          </a:p>
        </p:txBody>
      </p:sp>
      <p:sp>
        <p:nvSpPr>
          <p:cNvPr id="127" name="Google Shape;127;p15"/>
          <p:cNvSpPr txBox="1"/>
          <p:nvPr/>
        </p:nvSpPr>
        <p:spPr>
          <a:xfrm>
            <a:off x="6334125" y="4645223"/>
            <a:ext cx="528637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Determine true medication profitability after full reimbursement reconciliation.</a:t>
            </a:r>
            <a:endParaRPr/>
          </a:p>
        </p:txBody>
      </p:sp>
      <p:sp>
        <p:nvSpPr>
          <p:cNvPr id="128" name="Google Shape;128;p15"/>
          <p:cNvSpPr txBox="1"/>
          <p:nvPr/>
        </p:nvSpPr>
        <p:spPr>
          <a:xfrm>
            <a:off x="6515100" y="2921347"/>
            <a:ext cx="49625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Ensure every purchased vial is reimbursed.</a:t>
            </a:r>
            <a:endParaRPr/>
          </a:p>
        </p:txBody>
      </p:sp>
      <p:sp>
        <p:nvSpPr>
          <p:cNvPr id="129" name="Google Shape;129;p15"/>
          <p:cNvSpPr txBox="1"/>
          <p:nvPr/>
        </p:nvSpPr>
        <p:spPr>
          <a:xfrm>
            <a:off x="6515100" y="3290887"/>
            <a:ext cx="4962525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By automatically validating and linking supplier, inventory, and billing data.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4" name="Google Shape;13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5" name="Google Shape;135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221259"/>
            <a:ext cx="2619375" cy="328210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6" name="Google Shape;136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381375" y="2221259"/>
            <a:ext cx="2619375" cy="328210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7" name="Google Shape;137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91250" y="2221259"/>
            <a:ext cx="2619375" cy="328210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8" name="Google Shape;138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001125" y="2221259"/>
            <a:ext cx="2619375" cy="328210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9" name="Google Shape;139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629025" y="3526184"/>
            <a:ext cx="2124075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6"/>
          <p:cNvSpPr txBox="1"/>
          <p:nvPr/>
        </p:nvSpPr>
        <p:spPr>
          <a:xfrm>
            <a:off x="571500" y="476250"/>
            <a:ext cx="116014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Systems Integration Landscape</a:t>
            </a:r>
            <a:endParaRPr/>
          </a:p>
        </p:txBody>
      </p:sp>
      <p:sp>
        <p:nvSpPr>
          <p:cNvPr id="141" name="Google Shape;141;p16"/>
          <p:cNvSpPr/>
          <p:nvPr/>
        </p:nvSpPr>
        <p:spPr>
          <a:xfrm>
            <a:off x="571500" y="10382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42" name="Google Shape;142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643062" y="2468909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6"/>
          <p:cNvSpPr txBox="1"/>
          <p:nvPr/>
        </p:nvSpPr>
        <p:spPr>
          <a:xfrm>
            <a:off x="926068" y="3135659"/>
            <a:ext cx="1910238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Besse (Supplier)</a:t>
            </a:r>
            <a:endParaRPr/>
          </a:p>
        </p:txBody>
      </p:sp>
      <p:sp>
        <p:nvSpPr>
          <p:cNvPr id="144" name="Google Shape;144;p16"/>
          <p:cNvSpPr txBox="1"/>
          <p:nvPr/>
        </p:nvSpPr>
        <p:spPr>
          <a:xfrm>
            <a:off x="1114425" y="3526184"/>
            <a:ext cx="1533525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Order #, Type, Qty, Cost</a:t>
            </a:r>
            <a:endParaRPr/>
          </a:p>
        </p:txBody>
      </p:sp>
      <p:sp>
        <p:nvSpPr>
          <p:cNvPr id="145" name="Google Shape;145;p16"/>
          <p:cNvSpPr txBox="1"/>
          <p:nvPr/>
        </p:nvSpPr>
        <p:spPr>
          <a:xfrm>
            <a:off x="1014412" y="3882330"/>
            <a:ext cx="1733550" cy="182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Source of Truth: Cost &amp; Quantity</a:t>
            </a:r>
            <a:endParaRPr/>
          </a:p>
        </p:txBody>
      </p:sp>
      <p:pic>
        <p:nvPicPr>
          <p:cNvPr descr="image.png" id="146" name="Google Shape;146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452937" y="2468909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6"/>
          <p:cNvSpPr txBox="1"/>
          <p:nvPr/>
        </p:nvSpPr>
        <p:spPr>
          <a:xfrm>
            <a:off x="3690937" y="3135659"/>
            <a:ext cx="2000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Podis (Inventory)</a:t>
            </a:r>
            <a:endParaRPr/>
          </a:p>
        </p:txBody>
      </p:sp>
      <p:sp>
        <p:nvSpPr>
          <p:cNvPr id="148" name="Google Shape;148;p16"/>
          <p:cNvSpPr txBox="1"/>
          <p:nvPr/>
        </p:nvSpPr>
        <p:spPr>
          <a:xfrm>
            <a:off x="3924300" y="4573934"/>
            <a:ext cx="1533525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Dispense Log, Patient ID</a:t>
            </a:r>
            <a:endParaRPr/>
          </a:p>
        </p:txBody>
      </p:sp>
      <p:sp>
        <p:nvSpPr>
          <p:cNvPr id="149" name="Google Shape;149;p16"/>
          <p:cNvSpPr txBox="1"/>
          <p:nvPr/>
        </p:nvSpPr>
        <p:spPr>
          <a:xfrm>
            <a:off x="4071937" y="4930080"/>
            <a:ext cx="1238250" cy="182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Source of Truth: Usage</a:t>
            </a:r>
            <a:endParaRPr/>
          </a:p>
        </p:txBody>
      </p:sp>
      <p:pic>
        <p:nvPicPr>
          <p:cNvPr descr="image.png" id="150" name="Google Shape;150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262812" y="2468909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6"/>
          <p:cNvSpPr txBox="1"/>
          <p:nvPr/>
        </p:nvSpPr>
        <p:spPr>
          <a:xfrm>
            <a:off x="6610826" y="3135659"/>
            <a:ext cx="1780222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MoDMed (EHR)</a:t>
            </a:r>
            <a:endParaRPr/>
          </a:p>
        </p:txBody>
      </p:sp>
      <p:sp>
        <p:nvSpPr>
          <p:cNvPr id="152" name="Google Shape;152;p16"/>
          <p:cNvSpPr txBox="1"/>
          <p:nvPr/>
        </p:nvSpPr>
        <p:spPr>
          <a:xfrm>
            <a:off x="6700837" y="3526184"/>
            <a:ext cx="160020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Insurance, Claims, Reimb.</a:t>
            </a:r>
            <a:endParaRPr/>
          </a:p>
        </p:txBody>
      </p:sp>
      <p:sp>
        <p:nvSpPr>
          <p:cNvPr id="153" name="Google Shape;153;p16"/>
          <p:cNvSpPr txBox="1"/>
          <p:nvPr/>
        </p:nvSpPr>
        <p:spPr>
          <a:xfrm>
            <a:off x="6548437" y="3882330"/>
            <a:ext cx="1905000" cy="182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Source of Truth: Financial Outcome</a:t>
            </a:r>
            <a:endParaRPr/>
          </a:p>
        </p:txBody>
      </p:sp>
      <p:pic>
        <p:nvPicPr>
          <p:cNvPr descr="image.png" id="154" name="Google Shape;154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072687" y="2468909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6"/>
          <p:cNvSpPr txBox="1"/>
          <p:nvPr/>
        </p:nvSpPr>
        <p:spPr>
          <a:xfrm>
            <a:off x="9695735" y="3135659"/>
            <a:ext cx="1230153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Fridge Log</a:t>
            </a:r>
            <a:endParaRPr/>
          </a:p>
        </p:txBody>
      </p:sp>
      <p:sp>
        <p:nvSpPr>
          <p:cNvPr id="156" name="Google Shape;156;p16"/>
          <p:cNvSpPr txBox="1"/>
          <p:nvPr/>
        </p:nvSpPr>
        <p:spPr>
          <a:xfrm>
            <a:off x="9677400" y="3526184"/>
            <a:ext cx="1266825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Physical Daily Count</a:t>
            </a:r>
            <a:endParaRPr/>
          </a:p>
        </p:txBody>
      </p:sp>
      <p:sp>
        <p:nvSpPr>
          <p:cNvPr id="157" name="Google Shape;157;p16"/>
          <p:cNvSpPr txBox="1"/>
          <p:nvPr/>
        </p:nvSpPr>
        <p:spPr>
          <a:xfrm>
            <a:off x="9744075" y="3882330"/>
            <a:ext cx="1133475" cy="182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Audit Validation Point</a:t>
            </a:r>
            <a:endParaRPr/>
          </a:p>
        </p:txBody>
      </p:sp>
      <p:pic>
        <p:nvPicPr>
          <p:cNvPr descr="image.png" id="158" name="Google Shape;158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643062" y="2516534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9" name="Google Shape;159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548187" y="2516534"/>
            <a:ext cx="2857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0" name="Google Shape;160;p1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3629025" y="3526184"/>
            <a:ext cx="2124075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1" name="Google Shape;161;p1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7286625" y="2516534"/>
            <a:ext cx="42862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2" name="Google Shape;162;p16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0096500" y="2516534"/>
            <a:ext cx="428625" cy="3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7" name="Google Shape;16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7"/>
          <p:cNvSpPr txBox="1"/>
          <p:nvPr/>
        </p:nvSpPr>
        <p:spPr>
          <a:xfrm>
            <a:off x="571500" y="476250"/>
            <a:ext cx="116014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The Proposed N8N Orchestration</a:t>
            </a:r>
            <a:endParaRPr/>
          </a:p>
        </p:txBody>
      </p:sp>
      <p:sp>
        <p:nvSpPr>
          <p:cNvPr id="169" name="Google Shape;169;p17"/>
          <p:cNvSpPr/>
          <p:nvPr/>
        </p:nvSpPr>
        <p:spPr>
          <a:xfrm>
            <a:off x="571500" y="10382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7"/>
          <p:cNvSpPr txBox="1"/>
          <p:nvPr/>
        </p:nvSpPr>
        <p:spPr>
          <a:xfrm>
            <a:off x="571500" y="2041326"/>
            <a:ext cx="110490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N8N acts as the central engine to implement a closed-loop data integration plan.</a:t>
            </a:r>
            <a:endParaRPr/>
          </a:p>
        </p:txBody>
      </p:sp>
      <p:graphicFrame>
        <p:nvGraphicFramePr>
          <p:cNvPr id="171" name="Google Shape;171;p17"/>
          <p:cNvGraphicFramePr/>
          <p:nvPr/>
        </p:nvGraphicFramePr>
        <p:xfrm>
          <a:off x="571500" y="260136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{62D7D9A6-A9E2-4E7A-AB1E-1F4FD4BE9E6A}</a:tableStyleId>
              </a:tblPr>
              <a:tblGrid>
                <a:gridCol w="2209800"/>
                <a:gridCol w="4419600"/>
                <a:gridCol w="4419600"/>
              </a:tblGrid>
              <a:tr h="770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Phase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N8N Functionality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Objective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770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Phase 1:</a:t>
                      </a:r>
                      <a:b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br>
                        <a:rPr b="1" i="0" lang="en-US" sz="13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</a:br>
                      <a:r>
                        <a:rPr b="1" i="0" lang="en-US" sz="13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        Ingestion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Trigger on invoice receipt. Extract (OCR), parse, and standardize data from Supplier (Besse).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Establish the total digital count and cost baseline of purchased vials.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70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Phase 2:</a:t>
                      </a:r>
                      <a:b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br>
                        <a:rPr b="1" i="0" lang="en-US" sz="13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</a:br>
                      <a:r>
                        <a:rPr b="1" i="0" lang="en-US" sz="13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        Reconciliation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Monitor Inventory (Podis) for usage, link to patient record, and cross-check against stock.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Mandate a digital link for every dispensed vial before billing proceeds.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70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Phase 3:</a:t>
                      </a:r>
                      <a:b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br>
                        <a:rPr b="1" i="0" lang="en-US" sz="13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</a:br>
                      <a:r>
                        <a:rPr b="1" i="0" lang="en-US" sz="13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        Billing &amp; Audit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Automate claim submission (MoDMed) and flag discrepancies.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Ensure every used vial is billed and reimbursed.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72" name="Google Shape;172;p17"/>
          <p:cNvSpPr/>
          <p:nvPr/>
        </p:nvSpPr>
        <p:spPr>
          <a:xfrm>
            <a:off x="571500" y="3990975"/>
            <a:ext cx="22098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7"/>
          <p:cNvSpPr/>
          <p:nvPr/>
        </p:nvSpPr>
        <p:spPr>
          <a:xfrm>
            <a:off x="2781300" y="3990975"/>
            <a:ext cx="44196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7"/>
          <p:cNvSpPr/>
          <p:nvPr/>
        </p:nvSpPr>
        <p:spPr>
          <a:xfrm>
            <a:off x="7200900" y="3990975"/>
            <a:ext cx="44196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7"/>
          <p:cNvSpPr/>
          <p:nvPr/>
        </p:nvSpPr>
        <p:spPr>
          <a:xfrm>
            <a:off x="571500" y="4834830"/>
            <a:ext cx="22098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7"/>
          <p:cNvSpPr/>
          <p:nvPr/>
        </p:nvSpPr>
        <p:spPr>
          <a:xfrm>
            <a:off x="2781300" y="4834830"/>
            <a:ext cx="44196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7"/>
          <p:cNvSpPr/>
          <p:nvPr/>
        </p:nvSpPr>
        <p:spPr>
          <a:xfrm>
            <a:off x="7200900" y="4834830"/>
            <a:ext cx="44196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2" name="Google Shape;18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3" name="Google Shape;183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012751"/>
            <a:ext cx="4953000" cy="2543026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18"/>
          <p:cNvSpPr txBox="1"/>
          <p:nvPr/>
        </p:nvSpPr>
        <p:spPr>
          <a:xfrm>
            <a:off x="571500" y="1145976"/>
            <a:ext cx="52006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Gap Analysis</a:t>
            </a:r>
            <a:endParaRPr/>
          </a:p>
        </p:txBody>
      </p:sp>
      <p:sp>
        <p:nvSpPr>
          <p:cNvPr id="185" name="Google Shape;185;p18"/>
          <p:cNvSpPr/>
          <p:nvPr/>
        </p:nvSpPr>
        <p:spPr>
          <a:xfrm>
            <a:off x="571500" y="1707951"/>
            <a:ext cx="4953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8"/>
          <p:cNvSpPr txBox="1"/>
          <p:nvPr/>
        </p:nvSpPr>
        <p:spPr>
          <a:xfrm>
            <a:off x="571500" y="4746277"/>
            <a:ext cx="495300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The Failure Point: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Step 4 is a single point of failure. If staff forget to scan, the downstream claim submission lacks evidence, leading to lost revenue.</a:t>
            </a:r>
            <a:endParaRPr/>
          </a:p>
        </p:txBody>
      </p:sp>
      <p:pic>
        <p:nvPicPr>
          <p:cNvPr descr="image.png" id="187" name="Google Shape;187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18"/>
          <p:cNvSpPr txBox="1"/>
          <p:nvPr/>
        </p:nvSpPr>
        <p:spPr>
          <a:xfrm>
            <a:off x="762000" y="2203251"/>
            <a:ext cx="48006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Current Workflow Gap</a:t>
            </a:r>
            <a:endParaRPr/>
          </a:p>
        </p:txBody>
      </p:sp>
      <p:sp>
        <p:nvSpPr>
          <p:cNvPr id="189" name="Google Shape;189;p18"/>
          <p:cNvSpPr txBox="1"/>
          <p:nvPr/>
        </p:nvSpPr>
        <p:spPr>
          <a:xfrm>
            <a:off x="857250" y="2516624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90" name="Google Shape;190;p18"/>
          <p:cNvSpPr txBox="1"/>
          <p:nvPr/>
        </p:nvSpPr>
        <p:spPr>
          <a:xfrm>
            <a:off x="952500" y="2517576"/>
            <a:ext cx="43815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1. Invoice Received</a:t>
            </a:r>
            <a:endParaRPr/>
          </a:p>
        </p:txBody>
      </p:sp>
      <p:sp>
        <p:nvSpPr>
          <p:cNvPr id="191" name="Google Shape;191;p18"/>
          <p:cNvSpPr txBox="1"/>
          <p:nvPr/>
        </p:nvSpPr>
        <p:spPr>
          <a:xfrm>
            <a:off x="857250" y="2886164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92" name="Google Shape;192;p18"/>
          <p:cNvSpPr txBox="1"/>
          <p:nvPr/>
        </p:nvSpPr>
        <p:spPr>
          <a:xfrm>
            <a:off x="952500" y="2887116"/>
            <a:ext cx="43815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2. Vials entered into Inventory</a:t>
            </a:r>
            <a:endParaRPr/>
          </a:p>
        </p:txBody>
      </p:sp>
      <p:sp>
        <p:nvSpPr>
          <p:cNvPr id="193" name="Google Shape;193;p18"/>
          <p:cNvSpPr txBox="1"/>
          <p:nvPr/>
        </p:nvSpPr>
        <p:spPr>
          <a:xfrm>
            <a:off x="857250" y="3255704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94" name="Google Shape;194;p18"/>
          <p:cNvSpPr txBox="1"/>
          <p:nvPr/>
        </p:nvSpPr>
        <p:spPr>
          <a:xfrm>
            <a:off x="952500" y="3256657"/>
            <a:ext cx="43815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3. Vial used on patient</a:t>
            </a:r>
            <a:endParaRPr/>
          </a:p>
        </p:txBody>
      </p:sp>
      <p:sp>
        <p:nvSpPr>
          <p:cNvPr id="195" name="Google Shape;195;p18"/>
          <p:cNvSpPr txBox="1"/>
          <p:nvPr/>
        </p:nvSpPr>
        <p:spPr>
          <a:xfrm>
            <a:off x="866775" y="3625244"/>
            <a:ext cx="8572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EF4444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96" name="Google Shape;196;p18"/>
          <p:cNvSpPr txBox="1"/>
          <p:nvPr/>
        </p:nvSpPr>
        <p:spPr>
          <a:xfrm>
            <a:off x="952500" y="3626197"/>
            <a:ext cx="43815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8572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EF4444"/>
                </a:solidFill>
                <a:latin typeface="Inter"/>
                <a:ea typeface="Inter"/>
                <a:cs typeface="Inter"/>
                <a:sym typeface="Inter"/>
              </a:rPr>
              <a:t>4. HUMAN ACTION REQUIRED (Scan/Record)</a:t>
            </a:r>
            <a:endParaRPr/>
          </a:p>
        </p:txBody>
      </p:sp>
      <p:sp>
        <p:nvSpPr>
          <p:cNvPr id="197" name="Google Shape;197;p18"/>
          <p:cNvSpPr txBox="1"/>
          <p:nvPr/>
        </p:nvSpPr>
        <p:spPr>
          <a:xfrm>
            <a:off x="857250" y="3994785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98" name="Google Shape;198;p18"/>
          <p:cNvSpPr txBox="1"/>
          <p:nvPr/>
        </p:nvSpPr>
        <p:spPr>
          <a:xfrm>
            <a:off x="952500" y="3995737"/>
            <a:ext cx="43815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5. Billing team generates claim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3" name="Google Shape;20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4" name="Google Shape;204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85900" y="3287166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5" name="Google Shape;205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695700" y="3287166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6" name="Google Shape;206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905500" y="3287166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7" name="Google Shape;207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115300" y="3287166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8" name="Google Shape;208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325100" y="3287166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19"/>
          <p:cNvSpPr txBox="1"/>
          <p:nvPr/>
        </p:nvSpPr>
        <p:spPr>
          <a:xfrm>
            <a:off x="571500" y="476250"/>
            <a:ext cx="116014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Full-Fledged Pipeline Overview</a:t>
            </a:r>
            <a:endParaRPr/>
          </a:p>
        </p:txBody>
      </p:sp>
      <p:sp>
        <p:nvSpPr>
          <p:cNvPr id="210" name="Google Shape;210;p19"/>
          <p:cNvSpPr/>
          <p:nvPr/>
        </p:nvSpPr>
        <p:spPr>
          <a:xfrm>
            <a:off x="571500" y="10382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9"/>
          <p:cNvSpPr/>
          <p:nvPr/>
        </p:nvSpPr>
        <p:spPr>
          <a:xfrm>
            <a:off x="571500" y="4033837"/>
            <a:ext cx="11049000" cy="38100"/>
          </a:xfrm>
          <a:prstGeom prst="roundRect">
            <a:avLst>
              <a:gd fmla="val 16667" name="adj"/>
            </a:avLst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9"/>
          <p:cNvSpPr txBox="1"/>
          <p:nvPr/>
        </p:nvSpPr>
        <p:spPr>
          <a:xfrm>
            <a:off x="616267" y="3858666"/>
            <a:ext cx="212026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Trigger</a:t>
            </a:r>
            <a:endParaRPr/>
          </a:p>
        </p:txBody>
      </p:sp>
      <p:sp>
        <p:nvSpPr>
          <p:cNvPr id="213" name="Google Shape;213;p19"/>
          <p:cNvSpPr txBox="1"/>
          <p:nvPr/>
        </p:nvSpPr>
        <p:spPr>
          <a:xfrm>
            <a:off x="666750" y="4249191"/>
            <a:ext cx="2019300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32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New Besse Invoice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(Webhook/Email)</a:t>
            </a:r>
            <a:endParaRPr/>
          </a:p>
        </p:txBody>
      </p:sp>
      <p:sp>
        <p:nvSpPr>
          <p:cNvPr id="214" name="Google Shape;214;p19"/>
          <p:cNvSpPr txBox="1"/>
          <p:nvPr/>
        </p:nvSpPr>
        <p:spPr>
          <a:xfrm>
            <a:off x="2826067" y="3858666"/>
            <a:ext cx="212026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Ingest</a:t>
            </a:r>
            <a:endParaRPr/>
          </a:p>
        </p:txBody>
      </p:sp>
      <p:sp>
        <p:nvSpPr>
          <p:cNvPr id="215" name="Google Shape;215;p19"/>
          <p:cNvSpPr txBox="1"/>
          <p:nvPr/>
        </p:nvSpPr>
        <p:spPr>
          <a:xfrm>
            <a:off x="2876550" y="4249191"/>
            <a:ext cx="2019300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32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Update Master Inventory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with Cost Data</a:t>
            </a:r>
            <a:endParaRPr/>
          </a:p>
        </p:txBody>
      </p:sp>
      <p:sp>
        <p:nvSpPr>
          <p:cNvPr id="216" name="Google Shape;216;p19"/>
          <p:cNvSpPr txBox="1"/>
          <p:nvPr/>
        </p:nvSpPr>
        <p:spPr>
          <a:xfrm>
            <a:off x="5035867" y="3858666"/>
            <a:ext cx="212026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Monitor</a:t>
            </a:r>
            <a:endParaRPr/>
          </a:p>
        </p:txBody>
      </p:sp>
      <p:sp>
        <p:nvSpPr>
          <p:cNvPr id="217" name="Google Shape;217;p19"/>
          <p:cNvSpPr txBox="1"/>
          <p:nvPr/>
        </p:nvSpPr>
        <p:spPr>
          <a:xfrm>
            <a:off x="5086350" y="4249191"/>
            <a:ext cx="2019300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32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Check for Unbilled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Usage Records</a:t>
            </a:r>
            <a:endParaRPr/>
          </a:p>
        </p:txBody>
      </p:sp>
      <p:sp>
        <p:nvSpPr>
          <p:cNvPr id="218" name="Google Shape;218;p19"/>
          <p:cNvSpPr txBox="1"/>
          <p:nvPr/>
        </p:nvSpPr>
        <p:spPr>
          <a:xfrm>
            <a:off x="7245667" y="3858666"/>
            <a:ext cx="212026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Bill</a:t>
            </a:r>
            <a:endParaRPr/>
          </a:p>
        </p:txBody>
      </p:sp>
      <p:sp>
        <p:nvSpPr>
          <p:cNvPr id="219" name="Google Shape;219;p19"/>
          <p:cNvSpPr txBox="1"/>
          <p:nvPr/>
        </p:nvSpPr>
        <p:spPr>
          <a:xfrm>
            <a:off x="7296150" y="4249191"/>
            <a:ext cx="2019300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32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Generate Claim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via MoDMed API</a:t>
            </a:r>
            <a:endParaRPr/>
          </a:p>
        </p:txBody>
      </p:sp>
      <p:sp>
        <p:nvSpPr>
          <p:cNvPr id="220" name="Google Shape;220;p19"/>
          <p:cNvSpPr txBox="1"/>
          <p:nvPr/>
        </p:nvSpPr>
        <p:spPr>
          <a:xfrm>
            <a:off x="9455467" y="3858666"/>
            <a:ext cx="212026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Audit</a:t>
            </a:r>
            <a:endParaRPr/>
          </a:p>
        </p:txBody>
      </p:sp>
      <p:sp>
        <p:nvSpPr>
          <p:cNvPr id="221" name="Google Shape;221;p19"/>
          <p:cNvSpPr txBox="1"/>
          <p:nvPr/>
        </p:nvSpPr>
        <p:spPr>
          <a:xfrm>
            <a:off x="9505950" y="4249191"/>
            <a:ext cx="2019300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32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Reconcile Reimbursement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Status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6" name="Google Shape;22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0"/>
          <p:cNvSpPr txBox="1"/>
          <p:nvPr/>
        </p:nvSpPr>
        <p:spPr>
          <a:xfrm>
            <a:off x="571500" y="476250"/>
            <a:ext cx="116014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Architecture &amp; Integration Points</a:t>
            </a:r>
            <a:endParaRPr/>
          </a:p>
        </p:txBody>
      </p:sp>
      <p:sp>
        <p:nvSpPr>
          <p:cNvPr id="228" name="Google Shape;228;p20"/>
          <p:cNvSpPr/>
          <p:nvPr/>
        </p:nvSpPr>
        <p:spPr>
          <a:xfrm>
            <a:off x="571500" y="10382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29" name="Google Shape;229;p20"/>
          <p:cNvGraphicFramePr/>
          <p:nvPr/>
        </p:nvGraphicFramePr>
        <p:xfrm>
          <a:off x="571500" y="244792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{62D7D9A6-A9E2-4E7A-AB1E-1F4FD4BE9E6A}</a:tableStyleId>
              </a:tblPr>
              <a:tblGrid>
                <a:gridCol w="2436750"/>
                <a:gridCol w="4184750"/>
                <a:gridCol w="4427475"/>
              </a:tblGrid>
              <a:tr h="5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Integration Point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N8N Node Type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Connection Protocol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5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Besse Invoice</a:t>
                      </a:r>
                      <a:endParaRPr/>
                    </a:p>
                  </a:txBody>
                  <a:tcPr marT="25400" marB="25400" marR="63500" marL="2476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Email Trigger + AI/OCR Node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IMAP / Optical Character Recognition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Podis Log</a:t>
                      </a:r>
                      <a:endParaRPr/>
                    </a:p>
                  </a:txBody>
                  <a:tcPr marT="25400" marB="25400" marR="63500" marL="3048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Database Node (Postgres/MySQL)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JDBC/ODBC Direct DB Connection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MoDMed Portal</a:t>
                      </a:r>
                      <a:endParaRPr/>
                    </a:p>
                  </a:txBody>
                  <a:tcPr marT="25400" marB="25400" marR="63500" marL="3333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HTTP Request Node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REST/SOAP API (Billing &amp; Status)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Error Log</a:t>
                      </a:r>
                      <a:endParaRPr/>
                    </a:p>
                  </a:txBody>
                  <a:tcPr marT="25400" marB="25400" marR="63500" marL="2857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Slack / Google Sheets Node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Webhook / API Integration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30" name="Google Shape;230;p20"/>
          <p:cNvSpPr/>
          <p:nvPr/>
        </p:nvSpPr>
        <p:spPr>
          <a:xfrm>
            <a:off x="571500" y="3563242"/>
            <a:ext cx="243676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0"/>
          <p:cNvSpPr/>
          <p:nvPr/>
        </p:nvSpPr>
        <p:spPr>
          <a:xfrm>
            <a:off x="3008262" y="3563242"/>
            <a:ext cx="418474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0"/>
          <p:cNvSpPr/>
          <p:nvPr/>
        </p:nvSpPr>
        <p:spPr>
          <a:xfrm>
            <a:off x="7193012" y="3563242"/>
            <a:ext cx="442748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0"/>
          <p:cNvSpPr/>
          <p:nvPr/>
        </p:nvSpPr>
        <p:spPr>
          <a:xfrm>
            <a:off x="571500" y="4132808"/>
            <a:ext cx="243676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0"/>
          <p:cNvSpPr/>
          <p:nvPr/>
        </p:nvSpPr>
        <p:spPr>
          <a:xfrm>
            <a:off x="3008262" y="4132808"/>
            <a:ext cx="418474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0"/>
          <p:cNvSpPr/>
          <p:nvPr/>
        </p:nvSpPr>
        <p:spPr>
          <a:xfrm>
            <a:off x="7193012" y="4132808"/>
            <a:ext cx="442748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0"/>
          <p:cNvSpPr/>
          <p:nvPr/>
        </p:nvSpPr>
        <p:spPr>
          <a:xfrm>
            <a:off x="571500" y="4702373"/>
            <a:ext cx="243676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0"/>
          <p:cNvSpPr/>
          <p:nvPr/>
        </p:nvSpPr>
        <p:spPr>
          <a:xfrm>
            <a:off x="3008262" y="4702373"/>
            <a:ext cx="418474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0"/>
          <p:cNvSpPr/>
          <p:nvPr/>
        </p:nvSpPr>
        <p:spPr>
          <a:xfrm>
            <a:off x="7193012" y="4702373"/>
            <a:ext cx="442748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39" name="Google Shape;239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4375" y="3198465"/>
            <a:ext cx="1333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0" name="Google Shape;240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4375" y="3768030"/>
            <a:ext cx="19050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1" name="Google Shape;241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14375" y="4337595"/>
            <a:ext cx="219075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2" name="Google Shape;242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14375" y="4907160"/>
            <a:ext cx="171450" cy="171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7" name="Google Shape;247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1"/>
          <p:cNvSpPr txBox="1"/>
          <p:nvPr/>
        </p:nvSpPr>
        <p:spPr>
          <a:xfrm>
            <a:off x="571500" y="1156394"/>
            <a:ext cx="52006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N8N Workflow Logic</a:t>
            </a:r>
            <a:endParaRPr/>
          </a:p>
        </p:txBody>
      </p:sp>
      <p:sp>
        <p:nvSpPr>
          <p:cNvPr id="249" name="Google Shape;249;p21"/>
          <p:cNvSpPr/>
          <p:nvPr/>
        </p:nvSpPr>
        <p:spPr>
          <a:xfrm>
            <a:off x="571500" y="1718369"/>
            <a:ext cx="4953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1"/>
          <p:cNvSpPr txBox="1"/>
          <p:nvPr/>
        </p:nvSpPr>
        <p:spPr>
          <a:xfrm>
            <a:off x="571500" y="2023169"/>
            <a:ext cx="49530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Key Node Sequence:</a:t>
            </a:r>
            <a:endParaRPr/>
          </a:p>
        </p:txBody>
      </p:sp>
      <p:pic>
        <p:nvPicPr>
          <p:cNvPr descr="image.png" id="251" name="Google Shape;251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1"/>
          <p:cNvSpPr txBox="1"/>
          <p:nvPr/>
        </p:nvSpPr>
        <p:spPr>
          <a:xfrm>
            <a:off x="838200" y="2591782"/>
            <a:ext cx="1143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1.</a:t>
            </a:r>
            <a:endParaRPr/>
          </a:p>
        </p:txBody>
      </p:sp>
      <p:sp>
        <p:nvSpPr>
          <p:cNvPr id="253" name="Google Shape;253;p21"/>
          <p:cNvSpPr txBox="1"/>
          <p:nvPr/>
        </p:nvSpPr>
        <p:spPr>
          <a:xfrm>
            <a:off x="952500" y="2592734"/>
            <a:ext cx="45720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Webhook (New Invoice)</a:t>
            </a:r>
            <a:endParaRPr/>
          </a:p>
        </p:txBody>
      </p:sp>
      <p:sp>
        <p:nvSpPr>
          <p:cNvPr id="254" name="Google Shape;254;p21"/>
          <p:cNvSpPr txBox="1"/>
          <p:nvPr/>
        </p:nvSpPr>
        <p:spPr>
          <a:xfrm>
            <a:off x="800100" y="2961322"/>
            <a:ext cx="1524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2.</a:t>
            </a:r>
            <a:endParaRPr/>
          </a:p>
        </p:txBody>
      </p:sp>
      <p:sp>
        <p:nvSpPr>
          <p:cNvPr id="255" name="Google Shape;255;p21"/>
          <p:cNvSpPr txBox="1"/>
          <p:nvPr/>
        </p:nvSpPr>
        <p:spPr>
          <a:xfrm>
            <a:off x="952500" y="2962275"/>
            <a:ext cx="45720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524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AI/OCR Node (Extract Data)</a:t>
            </a:r>
            <a:endParaRPr/>
          </a:p>
        </p:txBody>
      </p:sp>
      <p:sp>
        <p:nvSpPr>
          <p:cNvPr id="256" name="Google Shape;256;p21"/>
          <p:cNvSpPr txBox="1"/>
          <p:nvPr/>
        </p:nvSpPr>
        <p:spPr>
          <a:xfrm>
            <a:off x="800100" y="3330862"/>
            <a:ext cx="1524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3.</a:t>
            </a:r>
            <a:endParaRPr/>
          </a:p>
        </p:txBody>
      </p:sp>
      <p:sp>
        <p:nvSpPr>
          <p:cNvPr id="257" name="Google Shape;257;p21"/>
          <p:cNvSpPr txBox="1"/>
          <p:nvPr/>
        </p:nvSpPr>
        <p:spPr>
          <a:xfrm>
            <a:off x="952500" y="3331815"/>
            <a:ext cx="45720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524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Database (Inventory Update)</a:t>
            </a:r>
            <a:endParaRPr/>
          </a:p>
        </p:txBody>
      </p:sp>
      <p:sp>
        <p:nvSpPr>
          <p:cNvPr id="258" name="Google Shape;258;p21"/>
          <p:cNvSpPr txBox="1"/>
          <p:nvPr/>
        </p:nvSpPr>
        <p:spPr>
          <a:xfrm>
            <a:off x="800100" y="3700402"/>
            <a:ext cx="1524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4.</a:t>
            </a:r>
            <a:endParaRPr/>
          </a:p>
        </p:txBody>
      </p:sp>
      <p:sp>
        <p:nvSpPr>
          <p:cNvPr id="259" name="Google Shape;259;p21"/>
          <p:cNvSpPr txBox="1"/>
          <p:nvPr/>
        </p:nvSpPr>
        <p:spPr>
          <a:xfrm>
            <a:off x="952500" y="3701355"/>
            <a:ext cx="45720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524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Cron Trigger (Usage Check)</a:t>
            </a:r>
            <a:endParaRPr/>
          </a:p>
        </p:txBody>
      </p:sp>
      <p:sp>
        <p:nvSpPr>
          <p:cNvPr id="260" name="Google Shape;260;p21"/>
          <p:cNvSpPr txBox="1"/>
          <p:nvPr/>
        </p:nvSpPr>
        <p:spPr>
          <a:xfrm>
            <a:off x="800100" y="4069943"/>
            <a:ext cx="1524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5.</a:t>
            </a:r>
            <a:endParaRPr/>
          </a:p>
        </p:txBody>
      </p:sp>
      <p:sp>
        <p:nvSpPr>
          <p:cNvPr id="261" name="Google Shape;261;p21"/>
          <p:cNvSpPr txBox="1"/>
          <p:nvPr/>
        </p:nvSpPr>
        <p:spPr>
          <a:xfrm>
            <a:off x="952500" y="4070895"/>
            <a:ext cx="45720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524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IF Node (Is Billed?)</a:t>
            </a:r>
            <a:endParaRPr/>
          </a:p>
        </p:txBody>
      </p:sp>
      <p:sp>
        <p:nvSpPr>
          <p:cNvPr id="262" name="Google Shape;262;p21"/>
          <p:cNvSpPr txBox="1"/>
          <p:nvPr/>
        </p:nvSpPr>
        <p:spPr>
          <a:xfrm>
            <a:off x="809625" y="4439483"/>
            <a:ext cx="1428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6.</a:t>
            </a:r>
            <a:endParaRPr/>
          </a:p>
        </p:txBody>
      </p:sp>
      <p:sp>
        <p:nvSpPr>
          <p:cNvPr id="263" name="Google Shape;263;p21"/>
          <p:cNvSpPr txBox="1"/>
          <p:nvPr/>
        </p:nvSpPr>
        <p:spPr>
          <a:xfrm>
            <a:off x="952500" y="4440435"/>
            <a:ext cx="45720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428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HTTP Request (Submit Claim)</a:t>
            </a:r>
            <a:endParaRPr/>
          </a:p>
        </p:txBody>
      </p:sp>
      <p:sp>
        <p:nvSpPr>
          <p:cNvPr id="264" name="Google Shape;264;p21"/>
          <p:cNvSpPr txBox="1"/>
          <p:nvPr/>
        </p:nvSpPr>
        <p:spPr>
          <a:xfrm>
            <a:off x="828675" y="4809023"/>
            <a:ext cx="12382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7.</a:t>
            </a:r>
            <a:endParaRPr/>
          </a:p>
        </p:txBody>
      </p:sp>
      <p:sp>
        <p:nvSpPr>
          <p:cNvPr id="265" name="Google Shape;265;p21"/>
          <p:cNvSpPr txBox="1"/>
          <p:nvPr/>
        </p:nvSpPr>
        <p:spPr>
          <a:xfrm>
            <a:off x="952500" y="4809976"/>
            <a:ext cx="45720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2382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Wait Node (Processing)</a:t>
            </a:r>
            <a:endParaRPr/>
          </a:p>
        </p:txBody>
      </p:sp>
      <p:sp>
        <p:nvSpPr>
          <p:cNvPr id="266" name="Google Shape;266;p21"/>
          <p:cNvSpPr txBox="1"/>
          <p:nvPr/>
        </p:nvSpPr>
        <p:spPr>
          <a:xfrm>
            <a:off x="800100" y="5178563"/>
            <a:ext cx="1524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8.</a:t>
            </a:r>
            <a:endParaRPr/>
          </a:p>
        </p:txBody>
      </p:sp>
      <p:sp>
        <p:nvSpPr>
          <p:cNvPr id="267" name="Google Shape;267;p21"/>
          <p:cNvSpPr txBox="1"/>
          <p:nvPr/>
        </p:nvSpPr>
        <p:spPr>
          <a:xfrm>
            <a:off x="952500" y="5179516"/>
            <a:ext cx="45720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524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IF Node (Is Reimbursed?)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2" name="Google Shape;272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3" name="Google Shape;273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957387"/>
            <a:ext cx="5286375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4" name="Google Shape;274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304282"/>
            <a:ext cx="5286375" cy="2150566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22"/>
          <p:cNvSpPr txBox="1"/>
          <p:nvPr/>
        </p:nvSpPr>
        <p:spPr>
          <a:xfrm>
            <a:off x="571500" y="476250"/>
            <a:ext cx="116014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Phase 1: Invoice Data Ingestion</a:t>
            </a:r>
            <a:endParaRPr/>
          </a:p>
        </p:txBody>
      </p:sp>
      <p:sp>
        <p:nvSpPr>
          <p:cNvPr id="276" name="Google Shape;276;p22"/>
          <p:cNvSpPr/>
          <p:nvPr/>
        </p:nvSpPr>
        <p:spPr>
          <a:xfrm>
            <a:off x="571500" y="10382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2"/>
          <p:cNvSpPr txBox="1"/>
          <p:nvPr/>
        </p:nvSpPr>
        <p:spPr>
          <a:xfrm>
            <a:off x="571500" y="2079426"/>
            <a:ext cx="5550693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Trigger &amp; Extraction</a:t>
            </a:r>
            <a:endParaRPr/>
          </a:p>
        </p:txBody>
      </p:sp>
      <p:sp>
        <p:nvSpPr>
          <p:cNvPr id="278" name="Google Shape;278;p22"/>
          <p:cNvSpPr txBox="1"/>
          <p:nvPr/>
        </p:nvSpPr>
        <p:spPr>
          <a:xfrm>
            <a:off x="571500" y="2469951"/>
            <a:ext cx="52863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Node: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Besse Invoice Trigger (Email + OCR)</a:t>
            </a:r>
            <a:endParaRPr/>
          </a:p>
        </p:txBody>
      </p:sp>
      <p:sp>
        <p:nvSpPr>
          <p:cNvPr id="279" name="Google Shape;279;p22"/>
          <p:cNvSpPr txBox="1"/>
          <p:nvPr/>
        </p:nvSpPr>
        <p:spPr>
          <a:xfrm>
            <a:off x="571500" y="2887116"/>
            <a:ext cx="52863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The workflow activates upon receipt of a new PDF/CSV invoice.</a:t>
            </a:r>
            <a:endParaRPr/>
          </a:p>
        </p:txBody>
      </p:sp>
      <p:pic>
        <p:nvPicPr>
          <p:cNvPr descr="image.png" id="280" name="Google Shape;280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34125" y="1957387"/>
            <a:ext cx="191452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22"/>
          <p:cNvSpPr txBox="1"/>
          <p:nvPr/>
        </p:nvSpPr>
        <p:spPr>
          <a:xfrm>
            <a:off x="752475" y="3447157"/>
            <a:ext cx="49625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OCR/AI Node: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Reliably extracts:</a:t>
            </a:r>
            <a:endParaRPr/>
          </a:p>
        </p:txBody>
      </p:sp>
      <p:sp>
        <p:nvSpPr>
          <p:cNvPr id="282" name="Google Shape;282;p22"/>
          <p:cNvSpPr txBox="1"/>
          <p:nvPr/>
        </p:nvSpPr>
        <p:spPr>
          <a:xfrm>
            <a:off x="847725" y="3832860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83" name="Google Shape;283;p22"/>
          <p:cNvSpPr txBox="1"/>
          <p:nvPr/>
        </p:nvSpPr>
        <p:spPr>
          <a:xfrm>
            <a:off x="942975" y="3833812"/>
            <a:ext cx="47720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Order Number</a:t>
            </a:r>
            <a:endParaRPr/>
          </a:p>
        </p:txBody>
      </p:sp>
      <p:sp>
        <p:nvSpPr>
          <p:cNvPr id="284" name="Google Shape;284;p22"/>
          <p:cNvSpPr txBox="1"/>
          <p:nvPr/>
        </p:nvSpPr>
        <p:spPr>
          <a:xfrm>
            <a:off x="847725" y="4202400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85" name="Google Shape;285;p22"/>
          <p:cNvSpPr txBox="1"/>
          <p:nvPr/>
        </p:nvSpPr>
        <p:spPr>
          <a:xfrm>
            <a:off x="942975" y="4203352"/>
            <a:ext cx="47720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Medication Type</a:t>
            </a:r>
            <a:endParaRPr/>
          </a:p>
        </p:txBody>
      </p:sp>
      <p:sp>
        <p:nvSpPr>
          <p:cNvPr id="286" name="Google Shape;286;p22"/>
          <p:cNvSpPr txBox="1"/>
          <p:nvPr/>
        </p:nvSpPr>
        <p:spPr>
          <a:xfrm>
            <a:off x="847725" y="4571940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87" name="Google Shape;287;p22"/>
          <p:cNvSpPr txBox="1"/>
          <p:nvPr/>
        </p:nvSpPr>
        <p:spPr>
          <a:xfrm>
            <a:off x="942975" y="4572892"/>
            <a:ext cx="47720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Quantity (N vials)</a:t>
            </a:r>
            <a:endParaRPr/>
          </a:p>
        </p:txBody>
      </p:sp>
      <p:sp>
        <p:nvSpPr>
          <p:cNvPr id="288" name="Google Shape;288;p22"/>
          <p:cNvSpPr txBox="1"/>
          <p:nvPr/>
        </p:nvSpPr>
        <p:spPr>
          <a:xfrm>
            <a:off x="847725" y="4941480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89" name="Google Shape;289;p22"/>
          <p:cNvSpPr txBox="1"/>
          <p:nvPr/>
        </p:nvSpPr>
        <p:spPr>
          <a:xfrm>
            <a:off x="942975" y="4942433"/>
            <a:ext cx="47720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Full &amp; Discount Price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94" name="Google Shape;294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5" name="Google Shape;295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957387"/>
            <a:ext cx="5286375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6" name="Google Shape;296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3449984"/>
            <a:ext cx="5286375" cy="1441995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23"/>
          <p:cNvSpPr txBox="1"/>
          <p:nvPr/>
        </p:nvSpPr>
        <p:spPr>
          <a:xfrm>
            <a:off x="571500" y="476250"/>
            <a:ext cx="116014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Phase 1: Inventory Master Update</a:t>
            </a:r>
            <a:endParaRPr/>
          </a:p>
        </p:txBody>
      </p:sp>
      <p:sp>
        <p:nvSpPr>
          <p:cNvPr id="298" name="Google Shape;298;p23"/>
          <p:cNvSpPr/>
          <p:nvPr/>
        </p:nvSpPr>
        <p:spPr>
          <a:xfrm>
            <a:off x="571500" y="10382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99" name="Google Shape;299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1957387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23"/>
          <p:cNvSpPr txBox="1"/>
          <p:nvPr/>
        </p:nvSpPr>
        <p:spPr>
          <a:xfrm>
            <a:off x="6334125" y="1950839"/>
            <a:ext cx="5550693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Digital Twin Creation</a:t>
            </a:r>
            <a:endParaRPr/>
          </a:p>
        </p:txBody>
      </p:sp>
      <p:sp>
        <p:nvSpPr>
          <p:cNvPr id="301" name="Google Shape;301;p23"/>
          <p:cNvSpPr txBox="1"/>
          <p:nvPr/>
        </p:nvSpPr>
        <p:spPr>
          <a:xfrm>
            <a:off x="6334125" y="2341364"/>
            <a:ext cx="52863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Node: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Database Node</a:t>
            </a:r>
            <a:endParaRPr/>
          </a:p>
        </p:txBody>
      </p:sp>
      <p:sp>
        <p:nvSpPr>
          <p:cNvPr id="302" name="Google Shape;302;p23"/>
          <p:cNvSpPr txBox="1"/>
          <p:nvPr/>
        </p:nvSpPr>
        <p:spPr>
          <a:xfrm>
            <a:off x="6334125" y="2758529"/>
            <a:ext cx="528637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For every Quantity (N) vials purchased, N individual inventory records are created.</a:t>
            </a:r>
            <a:endParaRPr/>
          </a:p>
        </p:txBody>
      </p:sp>
      <p:sp>
        <p:nvSpPr>
          <p:cNvPr id="303" name="Google Shape;303;p23"/>
          <p:cNvSpPr txBox="1"/>
          <p:nvPr/>
        </p:nvSpPr>
        <p:spPr>
          <a:xfrm>
            <a:off x="6334125" y="5082480"/>
            <a:ext cx="528637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This creates the mandatory digital paper trail required for future reconciliation.</a:t>
            </a:r>
            <a:endParaRPr/>
          </a:p>
        </p:txBody>
      </p:sp>
      <p:sp>
        <p:nvSpPr>
          <p:cNvPr id="304" name="Google Shape;304;p23"/>
          <p:cNvSpPr txBox="1"/>
          <p:nvPr/>
        </p:nvSpPr>
        <p:spPr>
          <a:xfrm>
            <a:off x="6515100" y="3592859"/>
            <a:ext cx="49625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Record Initialization:</a:t>
            </a:r>
            <a:endParaRPr/>
          </a:p>
        </p:txBody>
      </p:sp>
      <p:sp>
        <p:nvSpPr>
          <p:cNvPr id="305" name="Google Shape;305;p23"/>
          <p:cNvSpPr txBox="1"/>
          <p:nvPr/>
        </p:nvSpPr>
        <p:spPr>
          <a:xfrm>
            <a:off x="6648450" y="4009072"/>
            <a:ext cx="571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/>
          </a:p>
        </p:txBody>
      </p:sp>
      <p:sp>
        <p:nvSpPr>
          <p:cNvPr id="306" name="Google Shape;306;p23"/>
          <p:cNvSpPr txBox="1"/>
          <p:nvPr/>
        </p:nvSpPr>
        <p:spPr>
          <a:xfrm>
            <a:off x="6705600" y="4010025"/>
            <a:ext cx="47720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STATUS = 'IN_STOCK'</a:t>
            </a:r>
            <a:endParaRPr/>
          </a:p>
        </p:txBody>
      </p:sp>
      <p:sp>
        <p:nvSpPr>
          <p:cNvPr id="307" name="Google Shape;307;p23"/>
          <p:cNvSpPr txBox="1"/>
          <p:nvPr/>
        </p:nvSpPr>
        <p:spPr>
          <a:xfrm>
            <a:off x="6648450" y="4378612"/>
            <a:ext cx="571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/>
          </a:p>
        </p:txBody>
      </p:sp>
      <p:sp>
        <p:nvSpPr>
          <p:cNvPr id="308" name="Google Shape;308;p23"/>
          <p:cNvSpPr txBox="1"/>
          <p:nvPr/>
        </p:nvSpPr>
        <p:spPr>
          <a:xfrm>
            <a:off x="6705600" y="4379565"/>
            <a:ext cx="47720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BILLED_TO_PATIENT = 'FALSE'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13" name="Google Shape;313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4" name="Google Shape;314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957387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24"/>
          <p:cNvSpPr txBox="1"/>
          <p:nvPr/>
        </p:nvSpPr>
        <p:spPr>
          <a:xfrm>
            <a:off x="571500" y="476250"/>
            <a:ext cx="116014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Phase 1: Physical Count Validation</a:t>
            </a:r>
            <a:endParaRPr/>
          </a:p>
        </p:txBody>
      </p:sp>
      <p:sp>
        <p:nvSpPr>
          <p:cNvPr id="316" name="Google Shape;316;p24"/>
          <p:cNvSpPr/>
          <p:nvPr/>
        </p:nvSpPr>
        <p:spPr>
          <a:xfrm>
            <a:off x="571500" y="10382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24"/>
          <p:cNvSpPr txBox="1"/>
          <p:nvPr/>
        </p:nvSpPr>
        <p:spPr>
          <a:xfrm>
            <a:off x="571500" y="2534691"/>
            <a:ext cx="5550693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Closing the Loop</a:t>
            </a:r>
            <a:endParaRPr/>
          </a:p>
        </p:txBody>
      </p:sp>
      <p:sp>
        <p:nvSpPr>
          <p:cNvPr id="318" name="Google Shape;318;p24"/>
          <p:cNvSpPr txBox="1"/>
          <p:nvPr/>
        </p:nvSpPr>
        <p:spPr>
          <a:xfrm>
            <a:off x="571500" y="2925216"/>
            <a:ext cx="52863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Node: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Webhook/Manual Trigger + IF Node</a:t>
            </a:r>
            <a:endParaRPr/>
          </a:p>
        </p:txBody>
      </p:sp>
      <p:sp>
        <p:nvSpPr>
          <p:cNvPr id="319" name="Google Shape;319;p24"/>
          <p:cNvSpPr txBox="1"/>
          <p:nvPr/>
        </p:nvSpPr>
        <p:spPr>
          <a:xfrm>
            <a:off x="571500" y="3342382"/>
            <a:ext cx="52863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Integrates the "Fridge Log" physical count.</a:t>
            </a:r>
            <a:endParaRPr/>
          </a:p>
        </p:txBody>
      </p:sp>
      <p:sp>
        <p:nvSpPr>
          <p:cNvPr id="320" name="Google Shape;320;p24"/>
          <p:cNvSpPr txBox="1"/>
          <p:nvPr/>
        </p:nvSpPr>
        <p:spPr>
          <a:xfrm>
            <a:off x="571500" y="4772917"/>
            <a:ext cx="52863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EF4444"/>
                </a:solidFill>
                <a:latin typeface="Inter"/>
                <a:ea typeface="Inter"/>
                <a:cs typeface="Inter"/>
                <a:sym typeface="Inter"/>
              </a:rPr>
              <a:t>Prevents stock issues before drug usage begins.</a:t>
            </a:r>
            <a:endParaRPr/>
          </a:p>
        </p:txBody>
      </p:sp>
      <p:pic>
        <p:nvPicPr>
          <p:cNvPr descr="image.png" id="321" name="Google Shape;321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1957387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24"/>
          <p:cNvSpPr txBox="1"/>
          <p:nvPr/>
        </p:nvSpPr>
        <p:spPr>
          <a:xfrm>
            <a:off x="666750" y="3758594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23" name="Google Shape;323;p24"/>
          <p:cNvSpPr txBox="1"/>
          <p:nvPr/>
        </p:nvSpPr>
        <p:spPr>
          <a:xfrm>
            <a:off x="762000" y="3759547"/>
            <a:ext cx="50958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Logic: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IF (Digital Count == Physical Count) THEN Proceed.</a:t>
            </a:r>
            <a:endParaRPr/>
          </a:p>
        </p:txBody>
      </p:sp>
      <p:sp>
        <p:nvSpPr>
          <p:cNvPr id="324" name="Google Shape;324;p24"/>
          <p:cNvSpPr txBox="1"/>
          <p:nvPr/>
        </p:nvSpPr>
        <p:spPr>
          <a:xfrm>
            <a:off x="666750" y="4128135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25" name="Google Shape;325;p24"/>
          <p:cNvSpPr txBox="1"/>
          <p:nvPr/>
        </p:nvSpPr>
        <p:spPr>
          <a:xfrm>
            <a:off x="762000" y="4129087"/>
            <a:ext cx="509587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Audit: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Mismatches trigger an immediate alert to the Inventory Manager via Slack.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30" name="Google Shape;330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1" name="Google Shape;331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3521422"/>
            <a:ext cx="5286375" cy="1024830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25"/>
          <p:cNvSpPr txBox="1"/>
          <p:nvPr/>
        </p:nvSpPr>
        <p:spPr>
          <a:xfrm>
            <a:off x="571500" y="476250"/>
            <a:ext cx="116014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Phase 2: Usage Monitoring Trigger</a:t>
            </a:r>
            <a:endParaRPr/>
          </a:p>
        </p:txBody>
      </p:sp>
      <p:sp>
        <p:nvSpPr>
          <p:cNvPr id="333" name="Google Shape;333;p25"/>
          <p:cNvSpPr/>
          <p:nvPr/>
        </p:nvSpPr>
        <p:spPr>
          <a:xfrm>
            <a:off x="571500" y="10382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34" name="Google Shape;334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547812" y="2195512"/>
            <a:ext cx="3333750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Google Shape;335;p25"/>
          <p:cNvSpPr txBox="1"/>
          <p:nvPr/>
        </p:nvSpPr>
        <p:spPr>
          <a:xfrm>
            <a:off x="6334125" y="2296566"/>
            <a:ext cx="5550693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Continuous Monitoring</a:t>
            </a:r>
            <a:endParaRPr/>
          </a:p>
        </p:txBody>
      </p:sp>
      <p:sp>
        <p:nvSpPr>
          <p:cNvPr id="336" name="Google Shape;336;p25"/>
          <p:cNvSpPr txBox="1"/>
          <p:nvPr/>
        </p:nvSpPr>
        <p:spPr>
          <a:xfrm>
            <a:off x="6334125" y="2687091"/>
            <a:ext cx="52863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Node: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Cron Schedule (Every 15 Mins)</a:t>
            </a:r>
            <a:endParaRPr/>
          </a:p>
        </p:txBody>
      </p:sp>
      <p:sp>
        <p:nvSpPr>
          <p:cNvPr id="337" name="Google Shape;337;p25"/>
          <p:cNvSpPr txBox="1"/>
          <p:nvPr/>
        </p:nvSpPr>
        <p:spPr>
          <a:xfrm>
            <a:off x="6334125" y="3104257"/>
            <a:ext cx="52863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Queries the Dispense Log for records meeting criteria:</a:t>
            </a:r>
            <a:endParaRPr/>
          </a:p>
        </p:txBody>
      </p:sp>
      <p:sp>
        <p:nvSpPr>
          <p:cNvPr id="338" name="Google Shape;338;p25"/>
          <p:cNvSpPr txBox="1"/>
          <p:nvPr/>
        </p:nvSpPr>
        <p:spPr>
          <a:xfrm>
            <a:off x="6334125" y="4736752"/>
            <a:ext cx="528637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Batching: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Processes each usage record individually (Atomic) to ensure fail-safe billing for every single vial.</a:t>
            </a:r>
            <a:endParaRPr/>
          </a:p>
        </p:txBody>
      </p:sp>
      <p:sp>
        <p:nvSpPr>
          <p:cNvPr id="339" name="Google Shape;339;p25"/>
          <p:cNvSpPr txBox="1"/>
          <p:nvPr/>
        </p:nvSpPr>
        <p:spPr>
          <a:xfrm>
            <a:off x="6648450" y="3663344"/>
            <a:ext cx="571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/>
          </a:p>
        </p:txBody>
      </p:sp>
      <p:sp>
        <p:nvSpPr>
          <p:cNvPr id="340" name="Google Shape;340;p25"/>
          <p:cNvSpPr txBox="1"/>
          <p:nvPr/>
        </p:nvSpPr>
        <p:spPr>
          <a:xfrm>
            <a:off x="6705600" y="3664297"/>
            <a:ext cx="47720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ADMINISTRATION_DATE = Today</a:t>
            </a:r>
            <a:endParaRPr/>
          </a:p>
        </p:txBody>
      </p:sp>
      <p:sp>
        <p:nvSpPr>
          <p:cNvPr id="341" name="Google Shape;341;p25"/>
          <p:cNvSpPr txBox="1"/>
          <p:nvPr/>
        </p:nvSpPr>
        <p:spPr>
          <a:xfrm>
            <a:off x="6648450" y="4032885"/>
            <a:ext cx="571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/>
          </a:p>
        </p:txBody>
      </p:sp>
      <p:sp>
        <p:nvSpPr>
          <p:cNvPr id="342" name="Google Shape;342;p25"/>
          <p:cNvSpPr txBox="1"/>
          <p:nvPr/>
        </p:nvSpPr>
        <p:spPr>
          <a:xfrm>
            <a:off x="6705600" y="4033837"/>
            <a:ext cx="47720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IS_RECONCILED = 'FALSE'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47" name="Google Shape;347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8" name="Google Shape;348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957387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26"/>
          <p:cNvSpPr txBox="1"/>
          <p:nvPr/>
        </p:nvSpPr>
        <p:spPr>
          <a:xfrm>
            <a:off x="571500" y="476250"/>
            <a:ext cx="116014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Phase 2: Data Enrichment &amp; Linking</a:t>
            </a:r>
            <a:endParaRPr/>
          </a:p>
        </p:txBody>
      </p:sp>
      <p:sp>
        <p:nvSpPr>
          <p:cNvPr id="350" name="Google Shape;350;p26"/>
          <p:cNvSpPr/>
          <p:nvPr/>
        </p:nvSpPr>
        <p:spPr>
          <a:xfrm>
            <a:off x="571500" y="10382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26"/>
          <p:cNvSpPr txBox="1"/>
          <p:nvPr/>
        </p:nvSpPr>
        <p:spPr>
          <a:xfrm>
            <a:off x="571500" y="2487066"/>
            <a:ext cx="5550693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Building the Claim Object</a:t>
            </a:r>
            <a:endParaRPr/>
          </a:p>
        </p:txBody>
      </p:sp>
      <p:sp>
        <p:nvSpPr>
          <p:cNvPr id="352" name="Google Shape;352;p26"/>
          <p:cNvSpPr txBox="1"/>
          <p:nvPr/>
        </p:nvSpPr>
        <p:spPr>
          <a:xfrm>
            <a:off x="571500" y="2877591"/>
            <a:ext cx="52863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Node: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Database + Merge Node</a:t>
            </a:r>
            <a:endParaRPr/>
          </a:p>
        </p:txBody>
      </p:sp>
      <p:sp>
        <p:nvSpPr>
          <p:cNvPr id="353" name="Google Shape;353;p26"/>
          <p:cNvSpPr txBox="1"/>
          <p:nvPr/>
        </p:nvSpPr>
        <p:spPr>
          <a:xfrm>
            <a:off x="571500" y="3294757"/>
            <a:ext cx="52863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Combines data sources into a single object:</a:t>
            </a:r>
            <a:endParaRPr/>
          </a:p>
        </p:txBody>
      </p:sp>
      <p:sp>
        <p:nvSpPr>
          <p:cNvPr id="354" name="Google Shape;354;p26"/>
          <p:cNvSpPr txBox="1"/>
          <p:nvPr/>
        </p:nvSpPr>
        <p:spPr>
          <a:xfrm>
            <a:off x="571500" y="4820542"/>
            <a:ext cx="52863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Result: A complete data packet ready for billing.</a:t>
            </a:r>
            <a:endParaRPr/>
          </a:p>
        </p:txBody>
      </p:sp>
      <p:pic>
        <p:nvPicPr>
          <p:cNvPr descr="image.png" id="355" name="Google Shape;355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1957387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26"/>
          <p:cNvSpPr txBox="1"/>
          <p:nvPr/>
        </p:nvSpPr>
        <p:spPr>
          <a:xfrm>
            <a:off x="666750" y="3710969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57" name="Google Shape;357;p26"/>
          <p:cNvSpPr txBox="1"/>
          <p:nvPr/>
        </p:nvSpPr>
        <p:spPr>
          <a:xfrm>
            <a:off x="762000" y="3711922"/>
            <a:ext cx="50958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Input: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Vial ID, Patient ID (from Usage)</a:t>
            </a:r>
            <a:endParaRPr/>
          </a:p>
        </p:txBody>
      </p:sp>
      <p:sp>
        <p:nvSpPr>
          <p:cNvPr id="358" name="Google Shape;358;p26"/>
          <p:cNvSpPr txBox="1"/>
          <p:nvPr/>
        </p:nvSpPr>
        <p:spPr>
          <a:xfrm>
            <a:off x="666750" y="4080510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59" name="Google Shape;359;p26"/>
          <p:cNvSpPr txBox="1"/>
          <p:nvPr/>
        </p:nvSpPr>
        <p:spPr>
          <a:xfrm>
            <a:off x="762000" y="4081462"/>
            <a:ext cx="50958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Enrichment 1 (MoDMed):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Fetch Insurance &amp; Consent Status.</a:t>
            </a:r>
            <a:endParaRPr/>
          </a:p>
        </p:txBody>
      </p:sp>
      <p:sp>
        <p:nvSpPr>
          <p:cNvPr id="360" name="Google Shape;360;p26"/>
          <p:cNvSpPr txBox="1"/>
          <p:nvPr/>
        </p:nvSpPr>
        <p:spPr>
          <a:xfrm>
            <a:off x="666750" y="4450050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61" name="Google Shape;361;p26"/>
          <p:cNvSpPr txBox="1"/>
          <p:nvPr/>
        </p:nvSpPr>
        <p:spPr>
          <a:xfrm>
            <a:off x="762000" y="4451002"/>
            <a:ext cx="50958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Enrichment 2 (Inventory):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Fetch original Cost/Discount Price.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66" name="Google Shape;366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7" name="Google Shape;367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957387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68" name="Google Shape;368;p27"/>
          <p:cNvSpPr txBox="1"/>
          <p:nvPr/>
        </p:nvSpPr>
        <p:spPr>
          <a:xfrm>
            <a:off x="571500" y="476250"/>
            <a:ext cx="116014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Phase 2: Billing Submission</a:t>
            </a:r>
            <a:endParaRPr/>
          </a:p>
        </p:txBody>
      </p:sp>
      <p:sp>
        <p:nvSpPr>
          <p:cNvPr id="369" name="Google Shape;369;p27"/>
          <p:cNvSpPr/>
          <p:nvPr/>
        </p:nvSpPr>
        <p:spPr>
          <a:xfrm>
            <a:off x="571500" y="10382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70" name="Google Shape;370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1957387"/>
            <a:ext cx="10668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371" name="Google Shape;371;p27"/>
          <p:cNvSpPr txBox="1"/>
          <p:nvPr/>
        </p:nvSpPr>
        <p:spPr>
          <a:xfrm>
            <a:off x="6334125" y="2340322"/>
            <a:ext cx="5550693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Automated Submission</a:t>
            </a:r>
            <a:endParaRPr/>
          </a:p>
        </p:txBody>
      </p:sp>
      <p:sp>
        <p:nvSpPr>
          <p:cNvPr id="372" name="Google Shape;372;p27"/>
          <p:cNvSpPr txBox="1"/>
          <p:nvPr/>
        </p:nvSpPr>
        <p:spPr>
          <a:xfrm>
            <a:off x="6334125" y="2730847"/>
            <a:ext cx="52863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Node: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Code Node -&gt; HTTP Request</a:t>
            </a:r>
            <a:endParaRPr/>
          </a:p>
        </p:txBody>
      </p:sp>
      <p:sp>
        <p:nvSpPr>
          <p:cNvPr id="373" name="Google Shape;373;p27"/>
          <p:cNvSpPr txBox="1"/>
          <p:nvPr/>
        </p:nvSpPr>
        <p:spPr>
          <a:xfrm>
            <a:off x="6334125" y="4967138"/>
            <a:ext cx="52863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Result: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Immediate claim submission without human intervention.</a:t>
            </a:r>
            <a:endParaRPr/>
          </a:p>
        </p:txBody>
      </p:sp>
      <p:sp>
        <p:nvSpPr>
          <p:cNvPr id="374" name="Google Shape;374;p27"/>
          <p:cNvSpPr txBox="1"/>
          <p:nvPr/>
        </p:nvSpPr>
        <p:spPr>
          <a:xfrm>
            <a:off x="6600825" y="3156585"/>
            <a:ext cx="1143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1.</a:t>
            </a:r>
            <a:endParaRPr/>
          </a:p>
        </p:txBody>
      </p:sp>
      <p:sp>
        <p:nvSpPr>
          <p:cNvPr id="375" name="Google Shape;375;p27"/>
          <p:cNvSpPr txBox="1"/>
          <p:nvPr/>
        </p:nvSpPr>
        <p:spPr>
          <a:xfrm>
            <a:off x="6715125" y="3157537"/>
            <a:ext cx="490537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Safety Check: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IF Consent == APPROVED. (Else: Error Branch)</a:t>
            </a:r>
            <a:endParaRPr/>
          </a:p>
        </p:txBody>
      </p:sp>
      <p:sp>
        <p:nvSpPr>
          <p:cNvPr id="376" name="Google Shape;376;p27"/>
          <p:cNvSpPr txBox="1"/>
          <p:nvPr/>
        </p:nvSpPr>
        <p:spPr>
          <a:xfrm>
            <a:off x="6562725" y="3800415"/>
            <a:ext cx="1524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2.</a:t>
            </a:r>
            <a:endParaRPr/>
          </a:p>
        </p:txBody>
      </p:sp>
      <p:sp>
        <p:nvSpPr>
          <p:cNvPr id="377" name="Google Shape;377;p27"/>
          <p:cNvSpPr txBox="1"/>
          <p:nvPr/>
        </p:nvSpPr>
        <p:spPr>
          <a:xfrm>
            <a:off x="6715125" y="3801367"/>
            <a:ext cx="49053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524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Payload: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Construct FHIR/JSON claim body.</a:t>
            </a:r>
            <a:endParaRPr/>
          </a:p>
        </p:txBody>
      </p:sp>
      <p:sp>
        <p:nvSpPr>
          <p:cNvPr id="378" name="Google Shape;378;p27"/>
          <p:cNvSpPr txBox="1"/>
          <p:nvPr/>
        </p:nvSpPr>
        <p:spPr>
          <a:xfrm>
            <a:off x="6562725" y="4169955"/>
            <a:ext cx="1524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3.</a:t>
            </a:r>
            <a:endParaRPr/>
          </a:p>
        </p:txBody>
      </p:sp>
      <p:sp>
        <p:nvSpPr>
          <p:cNvPr id="379" name="Google Shape;379;p27"/>
          <p:cNvSpPr txBox="1"/>
          <p:nvPr/>
        </p:nvSpPr>
        <p:spPr>
          <a:xfrm>
            <a:off x="6715125" y="4170908"/>
            <a:ext cx="49053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524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Submit: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POST to MoDMed API.</a:t>
            </a:r>
            <a:endParaRPr/>
          </a:p>
        </p:txBody>
      </p:sp>
      <p:sp>
        <p:nvSpPr>
          <p:cNvPr id="380" name="Google Shape;380;p27"/>
          <p:cNvSpPr txBox="1"/>
          <p:nvPr/>
        </p:nvSpPr>
        <p:spPr>
          <a:xfrm>
            <a:off x="6562725" y="4539495"/>
            <a:ext cx="1524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4.</a:t>
            </a:r>
            <a:endParaRPr/>
          </a:p>
        </p:txBody>
      </p:sp>
      <p:sp>
        <p:nvSpPr>
          <p:cNvPr id="381" name="Google Shape;381;p27"/>
          <p:cNvSpPr txBox="1"/>
          <p:nvPr/>
        </p:nvSpPr>
        <p:spPr>
          <a:xfrm>
            <a:off x="6715125" y="4540448"/>
            <a:ext cx="49053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524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Update: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Set Podis record to 'PENDING'.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86" name="Google Shape;386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7" name="Google Shape;387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957387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88" name="Google Shape;388;p28"/>
          <p:cNvSpPr txBox="1"/>
          <p:nvPr/>
        </p:nvSpPr>
        <p:spPr>
          <a:xfrm>
            <a:off x="571500" y="476250"/>
            <a:ext cx="116014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Phase 3: Claim Status Monitoring</a:t>
            </a:r>
            <a:endParaRPr/>
          </a:p>
        </p:txBody>
      </p:sp>
      <p:sp>
        <p:nvSpPr>
          <p:cNvPr id="389" name="Google Shape;389;p28"/>
          <p:cNvSpPr/>
          <p:nvPr/>
        </p:nvSpPr>
        <p:spPr>
          <a:xfrm>
            <a:off x="571500" y="10382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28"/>
          <p:cNvSpPr txBox="1"/>
          <p:nvPr/>
        </p:nvSpPr>
        <p:spPr>
          <a:xfrm>
            <a:off x="571500" y="2695575"/>
            <a:ext cx="5550693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Closing the Financial Loop</a:t>
            </a:r>
            <a:endParaRPr/>
          </a:p>
        </p:txBody>
      </p:sp>
      <p:sp>
        <p:nvSpPr>
          <p:cNvPr id="391" name="Google Shape;391;p28"/>
          <p:cNvSpPr txBox="1"/>
          <p:nvPr/>
        </p:nvSpPr>
        <p:spPr>
          <a:xfrm>
            <a:off x="571500" y="3086100"/>
            <a:ext cx="52863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Node: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Webhook (MoDMed) or Cron Check</a:t>
            </a:r>
            <a:endParaRPr/>
          </a:p>
        </p:txBody>
      </p:sp>
      <p:sp>
        <p:nvSpPr>
          <p:cNvPr id="392" name="Google Shape;392;p28"/>
          <p:cNvSpPr txBox="1"/>
          <p:nvPr/>
        </p:nvSpPr>
        <p:spPr>
          <a:xfrm>
            <a:off x="571500" y="3503265"/>
            <a:ext cx="52863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Asynchronous monitoring of the submitted claim.</a:t>
            </a:r>
            <a:endParaRPr/>
          </a:p>
        </p:txBody>
      </p:sp>
      <p:pic>
        <p:nvPicPr>
          <p:cNvPr descr="image.png" id="393" name="Google Shape;393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1957387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94" name="Google Shape;394;p28"/>
          <p:cNvSpPr txBox="1"/>
          <p:nvPr/>
        </p:nvSpPr>
        <p:spPr>
          <a:xfrm>
            <a:off x="666750" y="3919477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95" name="Google Shape;395;p28"/>
          <p:cNvSpPr txBox="1"/>
          <p:nvPr/>
        </p:nvSpPr>
        <p:spPr>
          <a:xfrm>
            <a:off x="762000" y="3920430"/>
            <a:ext cx="50958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Queries MoDMed using Claim ID.</a:t>
            </a:r>
            <a:endParaRPr/>
          </a:p>
        </p:txBody>
      </p:sp>
      <p:sp>
        <p:nvSpPr>
          <p:cNvPr id="396" name="Google Shape;396;p28"/>
          <p:cNvSpPr txBox="1"/>
          <p:nvPr/>
        </p:nvSpPr>
        <p:spPr>
          <a:xfrm>
            <a:off x="666750" y="4289018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97" name="Google Shape;397;p28"/>
          <p:cNvSpPr txBox="1"/>
          <p:nvPr/>
        </p:nvSpPr>
        <p:spPr>
          <a:xfrm>
            <a:off x="762000" y="4289970"/>
            <a:ext cx="50958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Retrieves Status: </a:t>
            </a:r>
            <a:r>
              <a:rPr b="1" i="0" lang="en-US" sz="1350" u="none" cap="none" strike="noStrike">
                <a:solidFill>
                  <a:srgbClr val="10B981"/>
                </a:solidFill>
                <a:latin typeface="Inter"/>
                <a:ea typeface="Inter"/>
                <a:cs typeface="Inter"/>
                <a:sym typeface="Inter"/>
              </a:rPr>
              <a:t>PAID</a:t>
            </a: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b="1" i="0" lang="en-US" sz="1350" u="none" cap="none" strike="noStrike">
                <a:solidFill>
                  <a:srgbClr val="EF4444"/>
                </a:solidFill>
                <a:latin typeface="Inter"/>
                <a:ea typeface="Inter"/>
                <a:cs typeface="Inter"/>
                <a:sym typeface="Inter"/>
              </a:rPr>
              <a:t>DENIED</a:t>
            </a: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, or </a:t>
            </a:r>
            <a:r>
              <a:rPr b="1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PENDING</a:t>
            </a: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398" name="Google Shape;398;p28"/>
          <p:cNvSpPr txBox="1"/>
          <p:nvPr/>
        </p:nvSpPr>
        <p:spPr>
          <a:xfrm>
            <a:off x="666750" y="4658558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99" name="Google Shape;399;p28"/>
          <p:cNvSpPr txBox="1"/>
          <p:nvPr/>
        </p:nvSpPr>
        <p:spPr>
          <a:xfrm>
            <a:off x="762000" y="4659510"/>
            <a:ext cx="50958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Extracts Amount Reimbursed and Denial Codes (if applicable).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04" name="Google Shape;404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05" name="Google Shape;405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767137"/>
            <a:ext cx="5286375" cy="581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06" name="Google Shape;406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947094"/>
            <a:ext cx="5286375" cy="2221110"/>
          </a:xfrm>
          <a:prstGeom prst="rect">
            <a:avLst/>
          </a:prstGeom>
          <a:noFill/>
          <a:ln>
            <a:noFill/>
          </a:ln>
        </p:spPr>
      </p:pic>
      <p:sp>
        <p:nvSpPr>
          <p:cNvPr id="407" name="Google Shape;407;p29"/>
          <p:cNvSpPr txBox="1"/>
          <p:nvPr/>
        </p:nvSpPr>
        <p:spPr>
          <a:xfrm>
            <a:off x="571500" y="476250"/>
            <a:ext cx="116014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Phase 3: Financial Reconciliation</a:t>
            </a:r>
            <a:endParaRPr/>
          </a:p>
        </p:txBody>
      </p:sp>
      <p:sp>
        <p:nvSpPr>
          <p:cNvPr id="408" name="Google Shape;408;p29"/>
          <p:cNvSpPr/>
          <p:nvPr/>
        </p:nvSpPr>
        <p:spPr>
          <a:xfrm>
            <a:off x="571500" y="10382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29"/>
          <p:cNvSpPr txBox="1"/>
          <p:nvPr/>
        </p:nvSpPr>
        <p:spPr>
          <a:xfrm>
            <a:off x="571500" y="2494657"/>
            <a:ext cx="5550693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Profitability Calculation</a:t>
            </a:r>
            <a:endParaRPr/>
          </a:p>
        </p:txBody>
      </p:sp>
      <p:sp>
        <p:nvSpPr>
          <p:cNvPr id="410" name="Google Shape;410;p29"/>
          <p:cNvSpPr txBox="1"/>
          <p:nvPr/>
        </p:nvSpPr>
        <p:spPr>
          <a:xfrm>
            <a:off x="571500" y="2885182"/>
            <a:ext cx="52863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Node: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Code Node</a:t>
            </a:r>
            <a:endParaRPr/>
          </a:p>
        </p:txBody>
      </p:sp>
      <p:sp>
        <p:nvSpPr>
          <p:cNvPr id="411" name="Google Shape;411;p29"/>
          <p:cNvSpPr txBox="1"/>
          <p:nvPr/>
        </p:nvSpPr>
        <p:spPr>
          <a:xfrm>
            <a:off x="571500" y="3302347"/>
            <a:ext cx="52863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The core business logic calculation is performed for every vial:</a:t>
            </a:r>
            <a:endParaRPr/>
          </a:p>
        </p:txBody>
      </p:sp>
      <p:sp>
        <p:nvSpPr>
          <p:cNvPr id="412" name="Google Shape;412;p29"/>
          <p:cNvSpPr txBox="1"/>
          <p:nvPr/>
        </p:nvSpPr>
        <p:spPr>
          <a:xfrm>
            <a:off x="571500" y="4538662"/>
            <a:ext cx="528637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The full record (Cost, Usage, Reimbursement, Profit) is logged into the BI Database.</a:t>
            </a:r>
            <a:endParaRPr/>
          </a:p>
        </p:txBody>
      </p:sp>
      <p:sp>
        <p:nvSpPr>
          <p:cNvPr id="413" name="Google Shape;413;p29"/>
          <p:cNvSpPr txBox="1"/>
          <p:nvPr/>
        </p:nvSpPr>
        <p:spPr>
          <a:xfrm>
            <a:off x="6334125" y="2556569"/>
            <a:ext cx="5550693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Final Status Update</a:t>
            </a:r>
            <a:endParaRPr/>
          </a:p>
        </p:txBody>
      </p:sp>
      <p:sp>
        <p:nvSpPr>
          <p:cNvPr id="414" name="Google Shape;414;p29"/>
          <p:cNvSpPr txBox="1"/>
          <p:nvPr/>
        </p:nvSpPr>
        <p:spPr>
          <a:xfrm>
            <a:off x="6629400" y="3242369"/>
            <a:ext cx="46958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Success: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Flag record as 'PAID'.</a:t>
            </a:r>
            <a:endParaRPr/>
          </a:p>
        </p:txBody>
      </p:sp>
      <p:sp>
        <p:nvSpPr>
          <p:cNvPr id="415" name="Google Shape;415;p29"/>
          <p:cNvSpPr txBox="1"/>
          <p:nvPr/>
        </p:nvSpPr>
        <p:spPr>
          <a:xfrm>
            <a:off x="6629400" y="3907184"/>
            <a:ext cx="4695825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Analytic Value: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Allows precise tracking of net revenue per drug type, identifying which medications are actually profitable after insurance adjustments.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20" name="Google Shape;420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21" name="Google Shape;421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343025"/>
            <a:ext cx="5286375" cy="5038725"/>
          </a:xfrm>
          <a:prstGeom prst="rect">
            <a:avLst/>
          </a:prstGeom>
          <a:noFill/>
          <a:ln>
            <a:noFill/>
          </a:ln>
        </p:spPr>
      </p:pic>
      <p:sp>
        <p:nvSpPr>
          <p:cNvPr id="422" name="Google Shape;422;p30"/>
          <p:cNvSpPr txBox="1"/>
          <p:nvPr/>
        </p:nvSpPr>
        <p:spPr>
          <a:xfrm>
            <a:off x="571500" y="476250"/>
            <a:ext cx="116014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Phase 3: Discrepancy &amp; Alerts</a:t>
            </a:r>
            <a:endParaRPr/>
          </a:p>
        </p:txBody>
      </p:sp>
      <p:sp>
        <p:nvSpPr>
          <p:cNvPr id="423" name="Google Shape;423;p30"/>
          <p:cNvSpPr/>
          <p:nvPr/>
        </p:nvSpPr>
        <p:spPr>
          <a:xfrm>
            <a:off x="571500" y="10382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30"/>
          <p:cNvSpPr txBox="1"/>
          <p:nvPr/>
        </p:nvSpPr>
        <p:spPr>
          <a:xfrm>
            <a:off x="904875" y="1638300"/>
            <a:ext cx="4890611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EF4444"/>
                </a:solidFill>
                <a:latin typeface="Inter"/>
                <a:ea typeface="Inter"/>
                <a:cs typeface="Inter"/>
                <a:sym typeface="Inter"/>
              </a:rPr>
              <a:t>Denial Handling</a:t>
            </a:r>
            <a:endParaRPr/>
          </a:p>
        </p:txBody>
      </p:sp>
      <p:sp>
        <p:nvSpPr>
          <p:cNvPr id="425" name="Google Shape;425;p30"/>
          <p:cNvSpPr txBox="1"/>
          <p:nvPr/>
        </p:nvSpPr>
        <p:spPr>
          <a:xfrm>
            <a:off x="904875" y="2028825"/>
            <a:ext cx="46577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IF Status == 'DENIED':</a:t>
            </a:r>
            <a:endParaRPr/>
          </a:p>
        </p:txBody>
      </p:sp>
      <p:sp>
        <p:nvSpPr>
          <p:cNvPr id="426" name="Google Shape;426;p30"/>
          <p:cNvSpPr txBox="1"/>
          <p:nvPr/>
        </p:nvSpPr>
        <p:spPr>
          <a:xfrm>
            <a:off x="6334125" y="2594669"/>
            <a:ext cx="5550693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Profitability Alerts</a:t>
            </a:r>
            <a:endParaRPr/>
          </a:p>
        </p:txBody>
      </p:sp>
      <p:sp>
        <p:nvSpPr>
          <p:cNvPr id="427" name="Google Shape;427;p30"/>
          <p:cNvSpPr txBox="1"/>
          <p:nvPr/>
        </p:nvSpPr>
        <p:spPr>
          <a:xfrm>
            <a:off x="6334125" y="2985194"/>
            <a:ext cx="52863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Low Margin Warning:</a:t>
            </a:r>
            <a:endParaRPr/>
          </a:p>
        </p:txBody>
      </p:sp>
      <p:sp>
        <p:nvSpPr>
          <p:cNvPr id="428" name="Google Shape;428;p30"/>
          <p:cNvSpPr txBox="1"/>
          <p:nvPr/>
        </p:nvSpPr>
        <p:spPr>
          <a:xfrm>
            <a:off x="6334125" y="3402359"/>
            <a:ext cx="52863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If Profit &lt; Threshold, alert Management.</a:t>
            </a:r>
            <a:endParaRPr/>
          </a:p>
        </p:txBody>
      </p:sp>
      <p:sp>
        <p:nvSpPr>
          <p:cNvPr id="429" name="Google Shape;429;p30"/>
          <p:cNvSpPr txBox="1"/>
          <p:nvPr/>
        </p:nvSpPr>
        <p:spPr>
          <a:xfrm>
            <a:off x="6334125" y="3819525"/>
            <a:ext cx="528637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This prompts a review of supplier contracts or insurance fee schedules.</a:t>
            </a:r>
            <a:endParaRPr/>
          </a:p>
        </p:txBody>
      </p:sp>
      <p:sp>
        <p:nvSpPr>
          <p:cNvPr id="430" name="Google Shape;430;p30"/>
          <p:cNvSpPr txBox="1"/>
          <p:nvPr/>
        </p:nvSpPr>
        <p:spPr>
          <a:xfrm>
            <a:off x="1171575" y="2454562"/>
            <a:ext cx="1143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1.</a:t>
            </a:r>
            <a:endParaRPr/>
          </a:p>
        </p:txBody>
      </p:sp>
      <p:sp>
        <p:nvSpPr>
          <p:cNvPr id="431" name="Google Shape;431;p30"/>
          <p:cNvSpPr txBox="1"/>
          <p:nvPr/>
        </p:nvSpPr>
        <p:spPr>
          <a:xfrm>
            <a:off x="1285875" y="2455515"/>
            <a:ext cx="427672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Trigger immediate Slack/Teams notification to Billing Team.</a:t>
            </a:r>
            <a:endParaRPr/>
          </a:p>
        </p:txBody>
      </p:sp>
      <p:sp>
        <p:nvSpPr>
          <p:cNvPr id="432" name="Google Shape;432;p30"/>
          <p:cNvSpPr txBox="1"/>
          <p:nvPr/>
        </p:nvSpPr>
        <p:spPr>
          <a:xfrm>
            <a:off x="1133475" y="3098393"/>
            <a:ext cx="1524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2.</a:t>
            </a:r>
            <a:endParaRPr/>
          </a:p>
        </p:txBody>
      </p:sp>
      <p:sp>
        <p:nvSpPr>
          <p:cNvPr id="433" name="Google Shape;433;p30"/>
          <p:cNvSpPr txBox="1"/>
          <p:nvPr/>
        </p:nvSpPr>
        <p:spPr>
          <a:xfrm>
            <a:off x="1285875" y="3099345"/>
            <a:ext cx="42767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524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Include Vial ID, Patient ID, and Denial Code.</a:t>
            </a:r>
            <a:endParaRPr/>
          </a:p>
        </p:txBody>
      </p:sp>
      <p:sp>
        <p:nvSpPr>
          <p:cNvPr id="434" name="Google Shape;434;p30"/>
          <p:cNvSpPr txBox="1"/>
          <p:nvPr/>
        </p:nvSpPr>
        <p:spPr>
          <a:xfrm>
            <a:off x="1133475" y="3467933"/>
            <a:ext cx="1524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3.</a:t>
            </a:r>
            <a:endParaRPr/>
          </a:p>
        </p:txBody>
      </p:sp>
      <p:sp>
        <p:nvSpPr>
          <p:cNvPr id="435" name="Google Shape;435;p30"/>
          <p:cNvSpPr txBox="1"/>
          <p:nvPr/>
        </p:nvSpPr>
        <p:spPr>
          <a:xfrm>
            <a:off x="1285875" y="3468885"/>
            <a:ext cx="42767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524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Add to "Resubmission Queue" Google Sheet.</a:t>
            </a:r>
            <a:endParaRPr/>
          </a:p>
        </p:txBody>
      </p:sp>
      <p:pic>
        <p:nvPicPr>
          <p:cNvPr descr="image.png" id="436" name="Google Shape;436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77000" y="4815780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437" name="Google Shape;437;p30"/>
          <p:cNvSpPr txBox="1"/>
          <p:nvPr/>
        </p:nvSpPr>
        <p:spPr>
          <a:xfrm>
            <a:off x="6677025" y="4796730"/>
            <a:ext cx="7334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65314"/>
                </a:solidFill>
                <a:latin typeface="Inter"/>
                <a:ea typeface="Inter"/>
                <a:cs typeface="Inter"/>
                <a:sym typeface="Inter"/>
              </a:rPr>
              <a:t>Outcome: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42" name="Google Shape;442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43" name="Google Shape;443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466082"/>
            <a:ext cx="3555950" cy="27926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44" name="Google Shape;444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17950" y="2466082"/>
            <a:ext cx="3555950" cy="27926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45" name="Google Shape;445;p3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64400" y="2466082"/>
            <a:ext cx="3556099" cy="2792610"/>
          </a:xfrm>
          <a:prstGeom prst="rect">
            <a:avLst/>
          </a:prstGeom>
          <a:noFill/>
          <a:ln>
            <a:noFill/>
          </a:ln>
        </p:spPr>
      </p:pic>
      <p:sp>
        <p:nvSpPr>
          <p:cNvPr id="446" name="Google Shape;446;p31"/>
          <p:cNvSpPr txBox="1"/>
          <p:nvPr/>
        </p:nvSpPr>
        <p:spPr>
          <a:xfrm>
            <a:off x="571500" y="476250"/>
            <a:ext cx="116014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System Robustness (Level 3)</a:t>
            </a:r>
            <a:endParaRPr/>
          </a:p>
        </p:txBody>
      </p:sp>
      <p:sp>
        <p:nvSpPr>
          <p:cNvPr id="447" name="Google Shape;447;p31"/>
          <p:cNvSpPr/>
          <p:nvPr/>
        </p:nvSpPr>
        <p:spPr>
          <a:xfrm>
            <a:off x="571500" y="10382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448" name="Google Shape;448;p3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111275" y="2713732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49" name="Google Shape;449;p31"/>
          <p:cNvSpPr txBox="1"/>
          <p:nvPr/>
        </p:nvSpPr>
        <p:spPr>
          <a:xfrm>
            <a:off x="1069240" y="3380482"/>
            <a:ext cx="256032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Decoupled Workflows</a:t>
            </a:r>
            <a:endParaRPr/>
          </a:p>
        </p:txBody>
      </p:sp>
      <p:sp>
        <p:nvSpPr>
          <p:cNvPr id="450" name="Google Shape;450;p31"/>
          <p:cNvSpPr txBox="1"/>
          <p:nvPr/>
        </p:nvSpPr>
        <p:spPr>
          <a:xfrm>
            <a:off x="819150" y="3771007"/>
            <a:ext cx="3060650" cy="109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Separation of Ingestion, Usage, and Reconciliation prevents a single failure from crashing the entire system.</a:t>
            </a:r>
            <a:endParaRPr/>
          </a:p>
        </p:txBody>
      </p:sp>
      <p:pic>
        <p:nvPicPr>
          <p:cNvPr descr="image.png" id="451" name="Google Shape;451;p3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57726" y="2713732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52" name="Google Shape;452;p31"/>
          <p:cNvSpPr txBox="1"/>
          <p:nvPr/>
        </p:nvSpPr>
        <p:spPr>
          <a:xfrm>
            <a:off x="5280749" y="3380482"/>
            <a:ext cx="1630203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Error Triggers</a:t>
            </a:r>
            <a:endParaRPr/>
          </a:p>
        </p:txBody>
      </p:sp>
      <p:sp>
        <p:nvSpPr>
          <p:cNvPr id="453" name="Google Shape;453;p31"/>
          <p:cNvSpPr txBox="1"/>
          <p:nvPr/>
        </p:nvSpPr>
        <p:spPr>
          <a:xfrm>
            <a:off x="4565600" y="3771007"/>
            <a:ext cx="306065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Dedicated Error Trigger nodes catch API/DB failures, ensuring the workflow never fails silently.</a:t>
            </a:r>
            <a:endParaRPr/>
          </a:p>
        </p:txBody>
      </p:sp>
      <p:pic>
        <p:nvPicPr>
          <p:cNvPr descr="image.png" id="454" name="Google Shape;454;p3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604325" y="2713732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55" name="Google Shape;455;p31"/>
          <p:cNvSpPr txBox="1"/>
          <p:nvPr/>
        </p:nvSpPr>
        <p:spPr>
          <a:xfrm>
            <a:off x="8892331" y="3380482"/>
            <a:ext cx="1900237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Immutable Audit</a:t>
            </a:r>
            <a:endParaRPr/>
          </a:p>
        </p:txBody>
      </p:sp>
      <p:sp>
        <p:nvSpPr>
          <p:cNvPr id="456" name="Google Shape;456;p31"/>
          <p:cNvSpPr txBox="1"/>
          <p:nvPr/>
        </p:nvSpPr>
        <p:spPr>
          <a:xfrm>
            <a:off x="8312050" y="3771007"/>
            <a:ext cx="3060799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Every major data event is logged to a secure file for full compliance and audit trails.</a:t>
            </a:r>
            <a:endParaRPr/>
          </a:p>
        </p:txBody>
      </p:sp>
      <p:pic>
        <p:nvPicPr>
          <p:cNvPr descr="image.png" id="457" name="Google Shape;457;p3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135088" y="2761357"/>
            <a:ext cx="42862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58" name="Google Shape;458;p3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905351" y="2761357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59" name="Google Shape;459;p3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675762" y="2761357"/>
            <a:ext cx="333375" cy="3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64" name="Google Shape;464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65" name="Google Shape;465;p32"/>
          <p:cNvSpPr txBox="1"/>
          <p:nvPr/>
        </p:nvSpPr>
        <p:spPr>
          <a:xfrm>
            <a:off x="571500" y="476250"/>
            <a:ext cx="116014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Image Sources</a:t>
            </a:r>
            <a:endParaRPr/>
          </a:p>
        </p:txBody>
      </p:sp>
      <p:sp>
        <p:nvSpPr>
          <p:cNvPr id="466" name="Google Shape;466;p32"/>
          <p:cNvSpPr/>
          <p:nvPr/>
        </p:nvSpPr>
        <p:spPr>
          <a:xfrm>
            <a:off x="571500" y="10382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32"/>
          <p:cNvSpPr/>
          <p:nvPr/>
        </p:nvSpPr>
        <p:spPr>
          <a:xfrm>
            <a:off x="571500" y="211827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32"/>
          <p:cNvSpPr/>
          <p:nvPr/>
        </p:nvSpPr>
        <p:spPr>
          <a:xfrm>
            <a:off x="571500" y="3101131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32"/>
          <p:cNvSpPr/>
          <p:nvPr/>
        </p:nvSpPr>
        <p:spPr>
          <a:xfrm>
            <a:off x="571500" y="388590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32"/>
          <p:cNvSpPr/>
          <p:nvPr/>
        </p:nvSpPr>
        <p:spPr>
          <a:xfrm>
            <a:off x="571500" y="4670673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32"/>
          <p:cNvSpPr/>
          <p:nvPr/>
        </p:nvSpPr>
        <p:spPr>
          <a:xfrm>
            <a:off x="571500" y="5653533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472" name="Google Shape;472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492448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73" name="Google Shape;473;p32"/>
          <p:cNvSpPr txBox="1"/>
          <p:nvPr/>
        </p:nvSpPr>
        <p:spPr>
          <a:xfrm>
            <a:off x="1666875" y="1485900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https://www.henryscheindental.com/Products/1436983_US_Group_01_600x600.jpg</a:t>
            </a:r>
            <a:endParaRPr/>
          </a:p>
        </p:txBody>
      </p:sp>
      <p:sp>
        <p:nvSpPr>
          <p:cNvPr id="474" name="Google Shape;474;p32"/>
          <p:cNvSpPr txBox="1"/>
          <p:nvPr/>
        </p:nvSpPr>
        <p:spPr>
          <a:xfrm>
            <a:off x="1666875" y="1731615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www.henryscheindental.com</a:t>
            </a:r>
            <a:endParaRPr/>
          </a:p>
        </p:txBody>
      </p:sp>
      <p:pic>
        <p:nvPicPr>
          <p:cNvPr descr="image.png" id="475" name="Google Shape;475;p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376338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76" name="Google Shape;476;p32"/>
          <p:cNvSpPr txBox="1"/>
          <p:nvPr/>
        </p:nvSpPr>
        <p:spPr>
          <a:xfrm>
            <a:off x="1666875" y="2270670"/>
            <a:ext cx="995362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https://media.gettyimages.com/id/1251428223/sv/foto/pharmacist-scanning-barcode-of-medicine-drug.jpg?s=612x612&amp;w=gi&amp;k=20&amp;c=3b5FfXDVdHIaXSgjH3SQKAwyCSnnBY-P6xbf3bq-icQ=</a:t>
            </a:r>
            <a:endParaRPr/>
          </a:p>
        </p:txBody>
      </p:sp>
      <p:sp>
        <p:nvSpPr>
          <p:cNvPr id="477" name="Google Shape;477;p32"/>
          <p:cNvSpPr txBox="1"/>
          <p:nvPr/>
        </p:nvSpPr>
        <p:spPr>
          <a:xfrm>
            <a:off x="1666875" y="2714476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www.gettyimages.se</a:t>
            </a:r>
            <a:endParaRPr/>
          </a:p>
        </p:txBody>
      </p:sp>
      <p:pic>
        <p:nvPicPr>
          <p:cNvPr descr="image.png" id="478" name="Google Shape;478;p3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26008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79" name="Google Shape;479;p32"/>
          <p:cNvSpPr txBox="1"/>
          <p:nvPr/>
        </p:nvSpPr>
        <p:spPr>
          <a:xfrm>
            <a:off x="1666875" y="3253531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https://n8niostorageaccount.blob.core.windows.net/n8nio-strapi-blobs-prod/assets/Agent_chat_818315ae64.webp</a:t>
            </a:r>
            <a:endParaRPr/>
          </a:p>
        </p:txBody>
      </p:sp>
      <p:sp>
        <p:nvSpPr>
          <p:cNvPr id="480" name="Google Shape;480;p32"/>
          <p:cNvSpPr txBox="1"/>
          <p:nvPr/>
        </p:nvSpPr>
        <p:spPr>
          <a:xfrm>
            <a:off x="1666875" y="3499246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n8n.io</a:t>
            </a:r>
            <a:endParaRPr/>
          </a:p>
        </p:txBody>
      </p:sp>
      <p:pic>
        <p:nvPicPr>
          <p:cNvPr descr="image.png" id="481" name="Google Shape;481;p3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04485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82" name="Google Shape;482;p32"/>
          <p:cNvSpPr txBox="1"/>
          <p:nvPr/>
        </p:nvSpPr>
        <p:spPr>
          <a:xfrm>
            <a:off x="1666875" y="4038302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https://www.definitivehc.com/sites/default/files/2023-03/Medical%20billing%20process_28MAR23.png</a:t>
            </a:r>
            <a:endParaRPr/>
          </a:p>
        </p:txBody>
      </p:sp>
      <p:sp>
        <p:nvSpPr>
          <p:cNvPr id="483" name="Google Shape;483;p32"/>
          <p:cNvSpPr txBox="1"/>
          <p:nvPr/>
        </p:nvSpPr>
        <p:spPr>
          <a:xfrm>
            <a:off x="1666875" y="4284017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www.definitivehc.com</a:t>
            </a:r>
            <a:endParaRPr/>
          </a:p>
        </p:txBody>
      </p:sp>
      <p:pic>
        <p:nvPicPr>
          <p:cNvPr descr="image.png" id="484" name="Google Shape;484;p3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4928741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85" name="Google Shape;485;p32"/>
          <p:cNvSpPr txBox="1"/>
          <p:nvPr/>
        </p:nvSpPr>
        <p:spPr>
          <a:xfrm>
            <a:off x="1666875" y="4823073"/>
            <a:ext cx="995362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https://static.vecteezy.com/system/resources/previews/050/442/116/large_2x/modern-data-center-with-server-racks-and-blue-led-lights-for-cloud-computing-and-data-storage-photo.jpg</a:t>
            </a:r>
            <a:endParaRPr/>
          </a:p>
        </p:txBody>
      </p:sp>
      <p:sp>
        <p:nvSpPr>
          <p:cNvPr id="486" name="Google Shape;486;p32"/>
          <p:cNvSpPr txBox="1"/>
          <p:nvPr/>
        </p:nvSpPr>
        <p:spPr>
          <a:xfrm>
            <a:off x="1666875" y="5266878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www.vecteezy.com</a:t>
            </a:r>
            <a:endParaRPr/>
          </a:p>
        </p:txBody>
      </p:sp>
      <p:pic>
        <p:nvPicPr>
          <p:cNvPr descr="image.png" id="487" name="Google Shape;487;p3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71500" y="581248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88" name="Google Shape;488;p32"/>
          <p:cNvSpPr txBox="1"/>
          <p:nvPr/>
        </p:nvSpPr>
        <p:spPr>
          <a:xfrm>
            <a:off x="1666875" y="5805933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https://assets.qlik.com/image/upload/w_1720/q_auto/qlik/glossary/dashboard-examples/seo-financial-dashboards-cfo-dashboard_f9frfk.png</a:t>
            </a:r>
            <a:endParaRPr/>
          </a:p>
        </p:txBody>
      </p:sp>
      <p:sp>
        <p:nvSpPr>
          <p:cNvPr id="489" name="Google Shape;489;p32"/>
          <p:cNvSpPr txBox="1"/>
          <p:nvPr/>
        </p:nvSpPr>
        <p:spPr>
          <a:xfrm>
            <a:off x="1666875" y="6051649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www.qlik.com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